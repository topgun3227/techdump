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68" r:id="rId6"/>
    <p:sldId id="303" r:id="rId7"/>
    <p:sldId id="293" r:id="rId8"/>
    <p:sldId id="292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2" r:id="rId26"/>
    <p:sldId id="311" r:id="rId27"/>
    <p:sldId id="314" r:id="rId28"/>
    <p:sldId id="313" r:id="rId29"/>
    <p:sldId id="279" r:id="rId30"/>
    <p:sldId id="27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438F30-66BB-428F-9A61-D621595D158B}" v="50" dt="2026-01-23T11:00:52.139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61" d="100"/>
          <a:sy n="61" d="100"/>
        </p:scale>
        <p:origin x="884" y="26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Ganguly" userId="22516a2d-a205-45d4-89f4-eca4b9d6206f" providerId="ADAL" clId="{51DE3A8A-AAD6-4CFF-800F-4D5BACC2C6EE}"/>
    <pc:docChg chg="undo custSel addSld delSld modSld sldOrd">
      <pc:chgData name="Abhishek Ganguly" userId="22516a2d-a205-45d4-89f4-eca4b9d6206f" providerId="ADAL" clId="{51DE3A8A-AAD6-4CFF-800F-4D5BACC2C6EE}" dt="2026-01-28T15:40:13.388" v="1150" actId="20577"/>
      <pc:docMkLst>
        <pc:docMk/>
      </pc:docMkLst>
      <pc:sldChg chg="addSp delSp modSp mod">
        <pc:chgData name="Abhishek Ganguly" userId="22516a2d-a205-45d4-89f4-eca4b9d6206f" providerId="ADAL" clId="{51DE3A8A-AAD6-4CFF-800F-4D5BACC2C6EE}" dt="2026-01-20T18:53:33.538" v="85" actId="20577"/>
        <pc:sldMkLst>
          <pc:docMk/>
          <pc:sldMk cId="4151694508" sldId="268"/>
        </pc:sldMkLst>
        <pc:spChg chg="add del mod">
          <ac:chgData name="Abhishek Ganguly" userId="22516a2d-a205-45d4-89f4-eca4b9d6206f" providerId="ADAL" clId="{51DE3A8A-AAD6-4CFF-800F-4D5BACC2C6EE}" dt="2026-01-20T18:51:32.476" v="76" actId="1076"/>
          <ac:spMkLst>
            <pc:docMk/>
            <pc:sldMk cId="4151694508" sldId="268"/>
            <ac:spMk id="4" creationId="{FAD2AE59-5630-4D5C-83A9-4CDEF4D7DCFB}"/>
          </ac:spMkLst>
        </pc:spChg>
        <pc:spChg chg="add mod">
          <ac:chgData name="Abhishek Ganguly" userId="22516a2d-a205-45d4-89f4-eca4b9d6206f" providerId="ADAL" clId="{51DE3A8A-AAD6-4CFF-800F-4D5BACC2C6EE}" dt="2026-01-20T18:51:44.571" v="77" actId="1076"/>
          <ac:spMkLst>
            <pc:docMk/>
            <pc:sldMk cId="4151694508" sldId="268"/>
            <ac:spMk id="11" creationId="{E6C558B8-3163-021E-7E63-94581B596BB4}"/>
          </ac:spMkLst>
        </pc:spChg>
        <pc:graphicFrameChg chg="add mod ord modGraphic">
          <ac:chgData name="Abhishek Ganguly" userId="22516a2d-a205-45d4-89f4-eca4b9d6206f" providerId="ADAL" clId="{51DE3A8A-AAD6-4CFF-800F-4D5BACC2C6EE}" dt="2026-01-20T18:53:33.538" v="85" actId="20577"/>
          <ac:graphicFrameMkLst>
            <pc:docMk/>
            <pc:sldMk cId="4151694508" sldId="268"/>
            <ac:graphicFrameMk id="14" creationId="{7AAA5BB3-70AF-AD97-FE1B-E95A572E6BC9}"/>
          </ac:graphicFrameMkLst>
        </pc:graphicFrameChg>
      </pc:sldChg>
      <pc:sldChg chg="addSp delSp modSp mod">
        <pc:chgData name="Abhishek Ganguly" userId="22516a2d-a205-45d4-89f4-eca4b9d6206f" providerId="ADAL" clId="{51DE3A8A-AAD6-4CFF-800F-4D5BACC2C6EE}" dt="2026-01-20T18:54:56.010" v="92" actId="20577"/>
        <pc:sldMkLst>
          <pc:docMk/>
          <pc:sldMk cId="2436493926" sldId="276"/>
        </pc:sldMkLst>
        <pc:spChg chg="mod">
          <ac:chgData name="Abhishek Ganguly" userId="22516a2d-a205-45d4-89f4-eca4b9d6206f" providerId="ADAL" clId="{51DE3A8A-AAD6-4CFF-800F-4D5BACC2C6EE}" dt="2026-01-20T18:54:56.010" v="92" actId="20577"/>
          <ac:spMkLst>
            <pc:docMk/>
            <pc:sldMk cId="2436493926" sldId="276"/>
            <ac:spMk id="2" creationId="{BCCAEE93-8585-46D4-A7EC-F184E317CB2E}"/>
          </ac:spMkLst>
        </pc:spChg>
      </pc:sldChg>
      <pc:sldChg chg="addSp delSp modSp mod">
        <pc:chgData name="Abhishek Ganguly" userId="22516a2d-a205-45d4-89f4-eca4b9d6206f" providerId="ADAL" clId="{51DE3A8A-AAD6-4CFF-800F-4D5BACC2C6EE}" dt="2026-01-20T18:57:56.400" v="137" actId="113"/>
        <pc:sldMkLst>
          <pc:docMk/>
          <pc:sldMk cId="4252466045" sldId="279"/>
        </pc:sldMkLst>
        <pc:spChg chg="mod">
          <ac:chgData name="Abhishek Ganguly" userId="22516a2d-a205-45d4-89f4-eca4b9d6206f" providerId="ADAL" clId="{51DE3A8A-AAD6-4CFF-800F-4D5BACC2C6EE}" dt="2026-01-20T18:57:56.400" v="137" actId="113"/>
          <ac:spMkLst>
            <pc:docMk/>
            <pc:sldMk cId="4252466045" sldId="279"/>
            <ac:spMk id="7" creationId="{3FF2D739-E475-54F8-C832-F04A983D0F24}"/>
          </ac:spMkLst>
        </pc:spChg>
        <pc:spChg chg="mod">
          <ac:chgData name="Abhishek Ganguly" userId="22516a2d-a205-45d4-89f4-eca4b9d6206f" providerId="ADAL" clId="{51DE3A8A-AAD6-4CFF-800F-4D5BACC2C6EE}" dt="2026-01-20T18:56:18.996" v="123" actId="1076"/>
          <ac:spMkLst>
            <pc:docMk/>
            <pc:sldMk cId="4252466045" sldId="279"/>
            <ac:spMk id="23" creationId="{5FB75C3E-5885-49DD-8190-BB1E8C511A7E}"/>
          </ac:spMkLst>
        </pc:spChg>
      </pc:sldChg>
      <pc:sldChg chg="addSp delSp modSp mod">
        <pc:chgData name="Abhishek Ganguly" userId="22516a2d-a205-45d4-89f4-eca4b9d6206f" providerId="ADAL" clId="{51DE3A8A-AAD6-4CFF-800F-4D5BACC2C6EE}" dt="2026-01-21T16:35:55.799" v="189" actId="20577"/>
        <pc:sldMkLst>
          <pc:docMk/>
          <pc:sldMk cId="2390678392" sldId="292"/>
        </pc:sldMkLst>
        <pc:spChg chg="mod">
          <ac:chgData name="Abhishek Ganguly" userId="22516a2d-a205-45d4-89f4-eca4b9d6206f" providerId="ADAL" clId="{51DE3A8A-AAD6-4CFF-800F-4D5BACC2C6EE}" dt="2026-01-21T16:35:14.932" v="180" actId="20577"/>
          <ac:spMkLst>
            <pc:docMk/>
            <pc:sldMk cId="2390678392" sldId="292"/>
            <ac:spMk id="2" creationId="{CC80C883-7528-F9C5-D6FA-15EC059A3021}"/>
          </ac:spMkLst>
        </pc:spChg>
        <pc:spChg chg="add mod">
          <ac:chgData name="Abhishek Ganguly" userId="22516a2d-a205-45d4-89f4-eca4b9d6206f" providerId="ADAL" clId="{51DE3A8A-AAD6-4CFF-800F-4D5BACC2C6EE}" dt="2026-01-21T16:35:55.799" v="189" actId="20577"/>
          <ac:spMkLst>
            <pc:docMk/>
            <pc:sldMk cId="2390678392" sldId="292"/>
            <ac:spMk id="7" creationId="{CDADBE85-A33D-6169-2EC8-FF03383FD232}"/>
          </ac:spMkLst>
        </pc:spChg>
      </pc:sldChg>
      <pc:sldChg chg="modSp add mod ord">
        <pc:chgData name="Abhishek Ganguly" userId="22516a2d-a205-45d4-89f4-eca4b9d6206f" providerId="ADAL" clId="{51DE3A8A-AAD6-4CFF-800F-4D5BACC2C6EE}" dt="2026-01-21T16:32:42.472" v="151" actId="27636"/>
        <pc:sldMkLst>
          <pc:docMk/>
          <pc:sldMk cId="2219888609" sldId="293"/>
        </pc:sldMkLst>
        <pc:spChg chg="mod">
          <ac:chgData name="Abhishek Ganguly" userId="22516a2d-a205-45d4-89f4-eca4b9d6206f" providerId="ADAL" clId="{51DE3A8A-AAD6-4CFF-800F-4D5BACC2C6EE}" dt="2026-01-21T16:32:42.472" v="151" actId="27636"/>
          <ac:spMkLst>
            <pc:docMk/>
            <pc:sldMk cId="2219888609" sldId="293"/>
            <ac:spMk id="2" creationId="{F0CAB0C0-4B90-AA70-ADC4-DCA61142190A}"/>
          </ac:spMkLst>
        </pc:spChg>
      </pc:sldChg>
      <pc:sldChg chg="addSp delSp modSp add mod">
        <pc:chgData name="Abhishek Ganguly" userId="22516a2d-a205-45d4-89f4-eca4b9d6206f" providerId="ADAL" clId="{51DE3A8A-AAD6-4CFF-800F-4D5BACC2C6EE}" dt="2026-01-21T16:38:44.769" v="247" actId="113"/>
        <pc:sldMkLst>
          <pc:docMk/>
          <pc:sldMk cId="2793065444" sldId="294"/>
        </pc:sldMkLst>
        <pc:spChg chg="mod">
          <ac:chgData name="Abhishek Ganguly" userId="22516a2d-a205-45d4-89f4-eca4b9d6206f" providerId="ADAL" clId="{51DE3A8A-AAD6-4CFF-800F-4D5BACC2C6EE}" dt="2026-01-21T16:37:55.872" v="237" actId="20577"/>
          <ac:spMkLst>
            <pc:docMk/>
            <pc:sldMk cId="2793065444" sldId="294"/>
            <ac:spMk id="2" creationId="{8139D80A-9EC0-9976-134C-33839E66E7DA}"/>
          </ac:spMkLst>
        </pc:spChg>
        <pc:spChg chg="add mod">
          <ac:chgData name="Abhishek Ganguly" userId="22516a2d-a205-45d4-89f4-eca4b9d6206f" providerId="ADAL" clId="{51DE3A8A-AAD6-4CFF-800F-4D5BACC2C6EE}" dt="2026-01-21T16:38:44.769" v="247" actId="113"/>
          <ac:spMkLst>
            <pc:docMk/>
            <pc:sldMk cId="2793065444" sldId="294"/>
            <ac:spMk id="8" creationId="{DF7DA288-230C-0193-10B7-E174FEBEB425}"/>
          </ac:spMkLst>
        </pc:spChg>
      </pc:sldChg>
      <pc:sldChg chg="addSp delSp modSp add mod">
        <pc:chgData name="Abhishek Ganguly" userId="22516a2d-a205-45d4-89f4-eca4b9d6206f" providerId="ADAL" clId="{51DE3A8A-AAD6-4CFF-800F-4D5BACC2C6EE}" dt="2026-01-21T16:46:25.130" v="284" actId="20577"/>
        <pc:sldMkLst>
          <pc:docMk/>
          <pc:sldMk cId="3037163114" sldId="295"/>
        </pc:sldMkLst>
        <pc:spChg chg="mod">
          <ac:chgData name="Abhishek Ganguly" userId="22516a2d-a205-45d4-89f4-eca4b9d6206f" providerId="ADAL" clId="{51DE3A8A-AAD6-4CFF-800F-4D5BACC2C6EE}" dt="2026-01-21T16:45:29.285" v="282" actId="255"/>
          <ac:spMkLst>
            <pc:docMk/>
            <pc:sldMk cId="3037163114" sldId="295"/>
            <ac:spMk id="2" creationId="{26B03B22-29F4-EC19-FDC5-E82EE8ED4028}"/>
          </ac:spMkLst>
        </pc:spChg>
        <pc:spChg chg="add mod">
          <ac:chgData name="Abhishek Ganguly" userId="22516a2d-a205-45d4-89f4-eca4b9d6206f" providerId="ADAL" clId="{51DE3A8A-AAD6-4CFF-800F-4D5BACC2C6EE}" dt="2026-01-21T16:46:25.130" v="284" actId="20577"/>
          <ac:spMkLst>
            <pc:docMk/>
            <pc:sldMk cId="3037163114" sldId="295"/>
            <ac:spMk id="10" creationId="{6F1B5BF1-4E03-E18D-9651-4E28356A37EA}"/>
          </ac:spMkLst>
        </pc:spChg>
      </pc:sldChg>
      <pc:sldChg chg="addSp modSp add mod">
        <pc:chgData name="Abhishek Ganguly" userId="22516a2d-a205-45d4-89f4-eca4b9d6206f" providerId="ADAL" clId="{51DE3A8A-AAD6-4CFF-800F-4D5BACC2C6EE}" dt="2026-01-21T17:02:53.019" v="333"/>
        <pc:sldMkLst>
          <pc:docMk/>
          <pc:sldMk cId="1427756505" sldId="296"/>
        </pc:sldMkLst>
        <pc:spChg chg="mod">
          <ac:chgData name="Abhishek Ganguly" userId="22516a2d-a205-45d4-89f4-eca4b9d6206f" providerId="ADAL" clId="{51DE3A8A-AAD6-4CFF-800F-4D5BACC2C6EE}" dt="2026-01-21T16:48:31.930" v="302" actId="20577"/>
          <ac:spMkLst>
            <pc:docMk/>
            <pc:sldMk cId="1427756505" sldId="296"/>
            <ac:spMk id="2" creationId="{794FD332-91FC-E171-6566-F32382600503}"/>
          </ac:spMkLst>
        </pc:spChg>
        <pc:spChg chg="mod">
          <ac:chgData name="Abhishek Ganguly" userId="22516a2d-a205-45d4-89f4-eca4b9d6206f" providerId="ADAL" clId="{51DE3A8A-AAD6-4CFF-800F-4D5BACC2C6EE}" dt="2026-01-21T16:50:53.790" v="332" actId="207"/>
          <ac:spMkLst>
            <pc:docMk/>
            <pc:sldMk cId="1427756505" sldId="296"/>
            <ac:spMk id="10" creationId="{50364BCC-DD1B-C817-8C26-17559DDBF0C7}"/>
          </ac:spMkLst>
        </pc:spChg>
      </pc:sldChg>
      <pc:sldChg chg="addSp delSp modSp add mod">
        <pc:chgData name="Abhishek Ganguly" userId="22516a2d-a205-45d4-89f4-eca4b9d6206f" providerId="ADAL" clId="{51DE3A8A-AAD6-4CFF-800F-4D5BACC2C6EE}" dt="2026-01-21T17:03:23.148" v="338"/>
        <pc:sldMkLst>
          <pc:docMk/>
          <pc:sldMk cId="2421148836" sldId="297"/>
        </pc:sldMkLst>
        <pc:picChg chg="add">
          <ac:chgData name="Abhishek Ganguly" userId="22516a2d-a205-45d4-89f4-eca4b9d6206f" providerId="ADAL" clId="{51DE3A8A-AAD6-4CFF-800F-4D5BACC2C6EE}" dt="2026-01-21T17:03:23.148" v="338"/>
          <ac:picMkLst>
            <pc:docMk/>
            <pc:sldMk cId="2421148836" sldId="297"/>
            <ac:picMk id="2050" creationId="{0F412620-A964-4CC8-C752-CF056CEF5E50}"/>
          </ac:picMkLst>
        </pc:picChg>
      </pc:sldChg>
      <pc:sldChg chg="modSp add ord">
        <pc:chgData name="Abhishek Ganguly" userId="22516a2d-a205-45d4-89f4-eca4b9d6206f" providerId="ADAL" clId="{51DE3A8A-AAD6-4CFF-800F-4D5BACC2C6EE}" dt="2026-01-21T17:07:19.318" v="347"/>
        <pc:sldMkLst>
          <pc:docMk/>
          <pc:sldMk cId="162352783" sldId="298"/>
        </pc:sldMkLst>
        <pc:spChg chg="mod">
          <ac:chgData name="Abhishek Ganguly" userId="22516a2d-a205-45d4-89f4-eca4b9d6206f" providerId="ADAL" clId="{51DE3A8A-AAD6-4CFF-800F-4D5BACC2C6EE}" dt="2026-01-21T17:07:19.318" v="347"/>
          <ac:spMkLst>
            <pc:docMk/>
            <pc:sldMk cId="162352783" sldId="298"/>
            <ac:spMk id="2" creationId="{979480C3-BFB4-4703-A362-E0AF92FFF327}"/>
          </ac:spMkLst>
        </pc:spChg>
      </pc:sldChg>
      <pc:sldChg chg="addSp delSp modSp add mod ord">
        <pc:chgData name="Abhishek Ganguly" userId="22516a2d-a205-45d4-89f4-eca4b9d6206f" providerId="ADAL" clId="{51DE3A8A-AAD6-4CFF-800F-4D5BACC2C6EE}" dt="2026-01-21T17:09:58.159" v="357" actId="20577"/>
        <pc:sldMkLst>
          <pc:docMk/>
          <pc:sldMk cId="1210666815" sldId="299"/>
        </pc:sldMkLst>
        <pc:spChg chg="mod">
          <ac:chgData name="Abhishek Ganguly" userId="22516a2d-a205-45d4-89f4-eca4b9d6206f" providerId="ADAL" clId="{51DE3A8A-AAD6-4CFF-800F-4D5BACC2C6EE}" dt="2026-01-21T17:09:30.525" v="353" actId="108"/>
          <ac:spMkLst>
            <pc:docMk/>
            <pc:sldMk cId="1210666815" sldId="299"/>
            <ac:spMk id="2" creationId="{8D2FF588-5B9C-87B2-F1D8-8E5BF72CA061}"/>
          </ac:spMkLst>
        </pc:spChg>
        <pc:spChg chg="add mod">
          <ac:chgData name="Abhishek Ganguly" userId="22516a2d-a205-45d4-89f4-eca4b9d6206f" providerId="ADAL" clId="{51DE3A8A-AAD6-4CFF-800F-4D5BACC2C6EE}" dt="2026-01-21T17:09:58.159" v="357" actId="20577"/>
          <ac:spMkLst>
            <pc:docMk/>
            <pc:sldMk cId="1210666815" sldId="299"/>
            <ac:spMk id="5" creationId="{03BD7207-F7DF-AA6B-FFDC-83BD535D4C01}"/>
          </ac:spMkLst>
        </pc:spChg>
      </pc:sldChg>
      <pc:sldChg chg="addSp delSp modSp add mod">
        <pc:chgData name="Abhishek Ganguly" userId="22516a2d-a205-45d4-89f4-eca4b9d6206f" providerId="ADAL" clId="{51DE3A8A-AAD6-4CFF-800F-4D5BACC2C6EE}" dt="2026-01-21T17:15:33.791" v="372" actId="1076"/>
        <pc:sldMkLst>
          <pc:docMk/>
          <pc:sldMk cId="919217974" sldId="300"/>
        </pc:sldMkLst>
        <pc:spChg chg="mod">
          <ac:chgData name="Abhishek Ganguly" userId="22516a2d-a205-45d4-89f4-eca4b9d6206f" providerId="ADAL" clId="{51DE3A8A-AAD6-4CFF-800F-4D5BACC2C6EE}" dt="2026-01-21T17:14:51.239" v="364" actId="255"/>
          <ac:spMkLst>
            <pc:docMk/>
            <pc:sldMk cId="919217974" sldId="300"/>
            <ac:spMk id="2" creationId="{C4597EF1-5470-2D76-0B9F-B89C1F7ACDD1}"/>
          </ac:spMkLst>
        </pc:spChg>
        <pc:spChg chg="add mod">
          <ac:chgData name="Abhishek Ganguly" userId="22516a2d-a205-45d4-89f4-eca4b9d6206f" providerId="ADAL" clId="{51DE3A8A-AAD6-4CFF-800F-4D5BACC2C6EE}" dt="2026-01-21T17:15:33.791" v="372" actId="1076"/>
          <ac:spMkLst>
            <pc:docMk/>
            <pc:sldMk cId="919217974" sldId="300"/>
            <ac:spMk id="8" creationId="{243263C2-FFB0-68E2-11C3-D218A924DF55}"/>
          </ac:spMkLst>
        </pc:spChg>
      </pc:sldChg>
      <pc:sldChg chg="addSp delSp modSp add mod">
        <pc:chgData name="Abhishek Ganguly" userId="22516a2d-a205-45d4-89f4-eca4b9d6206f" providerId="ADAL" clId="{51DE3A8A-AAD6-4CFF-800F-4D5BACC2C6EE}" dt="2026-01-28T15:40:13.388" v="1150" actId="20577"/>
        <pc:sldMkLst>
          <pc:docMk/>
          <pc:sldMk cId="1149210469" sldId="301"/>
        </pc:sldMkLst>
        <pc:spChg chg="mod">
          <ac:chgData name="Abhishek Ganguly" userId="22516a2d-a205-45d4-89f4-eca4b9d6206f" providerId="ADAL" clId="{51DE3A8A-AAD6-4CFF-800F-4D5BACC2C6EE}" dt="2026-01-21T17:18:23.371" v="375" actId="255"/>
          <ac:spMkLst>
            <pc:docMk/>
            <pc:sldMk cId="1149210469" sldId="301"/>
            <ac:spMk id="2" creationId="{8B71A947-D396-D47B-E2A7-41C2AF8299C5}"/>
          </ac:spMkLst>
        </pc:spChg>
        <pc:spChg chg="add mod">
          <ac:chgData name="Abhishek Ganguly" userId="22516a2d-a205-45d4-89f4-eca4b9d6206f" providerId="ADAL" clId="{51DE3A8A-AAD6-4CFF-800F-4D5BACC2C6EE}" dt="2026-01-28T15:40:13.388" v="1150" actId="20577"/>
          <ac:spMkLst>
            <pc:docMk/>
            <pc:sldMk cId="1149210469" sldId="301"/>
            <ac:spMk id="5" creationId="{B6EFDE49-1FB4-0CCA-621F-3799DD98EF32}"/>
          </ac:spMkLst>
        </pc:spChg>
      </pc:sldChg>
      <pc:sldChg chg="modSp add mod ord">
        <pc:chgData name="Abhishek Ganguly" userId="22516a2d-a205-45d4-89f4-eca4b9d6206f" providerId="ADAL" clId="{51DE3A8A-AAD6-4CFF-800F-4D5BACC2C6EE}" dt="2026-01-21T17:22:35.087" v="392" actId="1076"/>
        <pc:sldMkLst>
          <pc:docMk/>
          <pc:sldMk cId="1983681223" sldId="302"/>
        </pc:sldMkLst>
        <pc:spChg chg="mod">
          <ac:chgData name="Abhishek Ganguly" userId="22516a2d-a205-45d4-89f4-eca4b9d6206f" providerId="ADAL" clId="{51DE3A8A-AAD6-4CFF-800F-4D5BACC2C6EE}" dt="2026-01-21T17:22:35.087" v="392" actId="1076"/>
          <ac:spMkLst>
            <pc:docMk/>
            <pc:sldMk cId="1983681223" sldId="302"/>
            <ac:spMk id="2" creationId="{02E860F4-822F-B393-552C-225CA04C75C2}"/>
          </ac:spMkLst>
        </pc:spChg>
      </pc:sldChg>
      <pc:sldChg chg="addSp delSp modSp add mod">
        <pc:chgData name="Abhishek Ganguly" userId="22516a2d-a205-45d4-89f4-eca4b9d6206f" providerId="ADAL" clId="{51DE3A8A-AAD6-4CFF-800F-4D5BACC2C6EE}" dt="2026-01-23T11:00:52.138" v="1148"/>
        <pc:sldMkLst>
          <pc:docMk/>
          <pc:sldMk cId="524661668" sldId="303"/>
        </pc:sldMkLst>
        <pc:spChg chg="mod">
          <ac:chgData name="Abhishek Ganguly" userId="22516a2d-a205-45d4-89f4-eca4b9d6206f" providerId="ADAL" clId="{51DE3A8A-AAD6-4CFF-800F-4D5BACC2C6EE}" dt="2026-01-22T04:17:45.929" v="412" actId="255"/>
          <ac:spMkLst>
            <pc:docMk/>
            <pc:sldMk cId="524661668" sldId="303"/>
            <ac:spMk id="4" creationId="{00765588-90BC-4850-F79F-26C29F0E8F15}"/>
          </ac:spMkLst>
        </pc:spChg>
        <pc:spChg chg="add mod">
          <ac:chgData name="Abhishek Ganguly" userId="22516a2d-a205-45d4-89f4-eca4b9d6206f" providerId="ADAL" clId="{51DE3A8A-AAD6-4CFF-800F-4D5BACC2C6EE}" dt="2026-01-23T11:00:52.138" v="1148"/>
          <ac:spMkLst>
            <pc:docMk/>
            <pc:sldMk cId="524661668" sldId="303"/>
            <ac:spMk id="6" creationId="{438F16A0-40AF-EDD8-228A-D326B79145F1}"/>
          </ac:spMkLst>
        </pc:spChg>
      </pc:sldChg>
      <pc:sldChg chg="addSp delSp modSp add mod ord">
        <pc:chgData name="Abhishek Ganguly" userId="22516a2d-a205-45d4-89f4-eca4b9d6206f" providerId="ADAL" clId="{51DE3A8A-AAD6-4CFF-800F-4D5BACC2C6EE}" dt="2026-01-22T10:38:31.832" v="531" actId="20577"/>
        <pc:sldMkLst>
          <pc:docMk/>
          <pc:sldMk cId="3997450680" sldId="304"/>
        </pc:sldMkLst>
        <pc:spChg chg="mod">
          <ac:chgData name="Abhishek Ganguly" userId="22516a2d-a205-45d4-89f4-eca4b9d6206f" providerId="ADAL" clId="{51DE3A8A-AAD6-4CFF-800F-4D5BACC2C6EE}" dt="2026-01-22T06:57:54.665" v="446" actId="20577"/>
          <ac:spMkLst>
            <pc:docMk/>
            <pc:sldMk cId="3997450680" sldId="304"/>
            <ac:spMk id="2" creationId="{64AF96B4-A26C-7CC7-6981-60E42E5F3A2E}"/>
          </ac:spMkLst>
        </pc:spChg>
        <pc:spChg chg="add mod">
          <ac:chgData name="Abhishek Ganguly" userId="22516a2d-a205-45d4-89f4-eca4b9d6206f" providerId="ADAL" clId="{51DE3A8A-AAD6-4CFF-800F-4D5BACC2C6EE}" dt="2026-01-22T10:38:31.832" v="531" actId="20577"/>
          <ac:spMkLst>
            <pc:docMk/>
            <pc:sldMk cId="3997450680" sldId="304"/>
            <ac:spMk id="6" creationId="{4379FD57-2A78-0621-C949-A0E0A02E30F4}"/>
          </ac:spMkLst>
        </pc:spChg>
      </pc:sldChg>
      <pc:sldChg chg="addSp delSp modSp add mod">
        <pc:chgData name="Abhishek Ganguly" userId="22516a2d-a205-45d4-89f4-eca4b9d6206f" providerId="ADAL" clId="{51DE3A8A-AAD6-4CFF-800F-4D5BACC2C6EE}" dt="2026-01-22T07:05:57.284" v="524" actId="20577"/>
        <pc:sldMkLst>
          <pc:docMk/>
          <pc:sldMk cId="655581520" sldId="305"/>
        </pc:sldMkLst>
        <pc:spChg chg="mod">
          <ac:chgData name="Abhishek Ganguly" userId="22516a2d-a205-45d4-89f4-eca4b9d6206f" providerId="ADAL" clId="{51DE3A8A-AAD6-4CFF-800F-4D5BACC2C6EE}" dt="2026-01-22T07:01:19.095" v="497" actId="20577"/>
          <ac:spMkLst>
            <pc:docMk/>
            <pc:sldMk cId="655581520" sldId="305"/>
            <ac:spMk id="2" creationId="{3FC4AC45-EFBB-4F11-762A-8B093531F159}"/>
          </ac:spMkLst>
        </pc:spChg>
        <pc:spChg chg="add mod">
          <ac:chgData name="Abhishek Ganguly" userId="22516a2d-a205-45d4-89f4-eca4b9d6206f" providerId="ADAL" clId="{51DE3A8A-AAD6-4CFF-800F-4D5BACC2C6EE}" dt="2026-01-22T07:05:57.284" v="524" actId="20577"/>
          <ac:spMkLst>
            <pc:docMk/>
            <pc:sldMk cId="655581520" sldId="305"/>
            <ac:spMk id="5" creationId="{26A152DA-297E-FC9F-B78D-9D7E4D453FC4}"/>
          </ac:spMkLst>
        </pc:spChg>
        <pc:spChg chg="add mod">
          <ac:chgData name="Abhishek Ganguly" userId="22516a2d-a205-45d4-89f4-eca4b9d6206f" providerId="ADAL" clId="{51DE3A8A-AAD6-4CFF-800F-4D5BACC2C6EE}" dt="2026-01-22T07:05:11.404" v="523" actId="1076"/>
          <ac:spMkLst>
            <pc:docMk/>
            <pc:sldMk cId="655581520" sldId="305"/>
            <ac:spMk id="8" creationId="{7032DD66-2B94-1258-BA88-B90D2913A9F7}"/>
          </ac:spMkLst>
        </pc:spChg>
      </pc:sldChg>
      <pc:sldChg chg="addSp delSp modSp add mod ord">
        <pc:chgData name="Abhishek Ganguly" userId="22516a2d-a205-45d4-89f4-eca4b9d6206f" providerId="ADAL" clId="{51DE3A8A-AAD6-4CFF-800F-4D5BACC2C6EE}" dt="2026-01-22T11:31:46.627" v="589" actId="20577"/>
        <pc:sldMkLst>
          <pc:docMk/>
          <pc:sldMk cId="260594898" sldId="306"/>
        </pc:sldMkLst>
        <pc:spChg chg="mod">
          <ac:chgData name="Abhishek Ganguly" userId="22516a2d-a205-45d4-89f4-eca4b9d6206f" providerId="ADAL" clId="{51DE3A8A-AAD6-4CFF-800F-4D5BACC2C6EE}" dt="2026-01-22T11:26:23.707" v="536" actId="255"/>
          <ac:spMkLst>
            <pc:docMk/>
            <pc:sldMk cId="260594898" sldId="306"/>
            <ac:spMk id="2" creationId="{B28B2028-BDD0-9B39-08D7-17143E0FE427}"/>
          </ac:spMkLst>
        </pc:spChg>
        <pc:spChg chg="add mod">
          <ac:chgData name="Abhishek Ganguly" userId="22516a2d-a205-45d4-89f4-eca4b9d6206f" providerId="ADAL" clId="{51DE3A8A-AAD6-4CFF-800F-4D5BACC2C6EE}" dt="2026-01-22T11:30:14.937" v="567" actId="14100"/>
          <ac:spMkLst>
            <pc:docMk/>
            <pc:sldMk cId="260594898" sldId="306"/>
            <ac:spMk id="5" creationId="{CD07856A-A251-0E94-0BBB-ADF55AB409E3}"/>
          </ac:spMkLst>
        </pc:spChg>
        <pc:spChg chg="add mod">
          <ac:chgData name="Abhishek Ganguly" userId="22516a2d-a205-45d4-89f4-eca4b9d6206f" providerId="ADAL" clId="{51DE3A8A-AAD6-4CFF-800F-4D5BACC2C6EE}" dt="2026-01-22T11:31:46.627" v="589" actId="20577"/>
          <ac:spMkLst>
            <pc:docMk/>
            <pc:sldMk cId="260594898" sldId="306"/>
            <ac:spMk id="8" creationId="{74230D7D-A8E7-ADB5-2B2E-D2DE105AAA0F}"/>
          </ac:spMkLst>
        </pc:spChg>
      </pc:sldChg>
      <pc:sldChg chg="modSp add mod ord">
        <pc:chgData name="Abhishek Ganguly" userId="22516a2d-a205-45d4-89f4-eca4b9d6206f" providerId="ADAL" clId="{51DE3A8A-AAD6-4CFF-800F-4D5BACC2C6EE}" dt="2026-01-22T13:09:30.858" v="595" actId="14100"/>
        <pc:sldMkLst>
          <pc:docMk/>
          <pc:sldMk cId="3540883597" sldId="307"/>
        </pc:sldMkLst>
        <pc:spChg chg="mod">
          <ac:chgData name="Abhishek Ganguly" userId="22516a2d-a205-45d4-89f4-eca4b9d6206f" providerId="ADAL" clId="{51DE3A8A-AAD6-4CFF-800F-4D5BACC2C6EE}" dt="2026-01-22T13:09:30.858" v="595" actId="14100"/>
          <ac:spMkLst>
            <pc:docMk/>
            <pc:sldMk cId="3540883597" sldId="307"/>
            <ac:spMk id="2" creationId="{A79947FD-05E4-493C-54AD-42C7F621FEFD}"/>
          </ac:spMkLst>
        </pc:spChg>
      </pc:sldChg>
      <pc:sldChg chg="modSp add mod ord">
        <pc:chgData name="Abhishek Ganguly" userId="22516a2d-a205-45d4-89f4-eca4b9d6206f" providerId="ADAL" clId="{51DE3A8A-AAD6-4CFF-800F-4D5BACC2C6EE}" dt="2026-01-22T14:11:07.403" v="612" actId="113"/>
        <pc:sldMkLst>
          <pc:docMk/>
          <pc:sldMk cId="2547687032" sldId="308"/>
        </pc:sldMkLst>
        <pc:spChg chg="mod">
          <ac:chgData name="Abhishek Ganguly" userId="22516a2d-a205-45d4-89f4-eca4b9d6206f" providerId="ADAL" clId="{51DE3A8A-AAD6-4CFF-800F-4D5BACC2C6EE}" dt="2026-01-22T14:09:58.982" v="602"/>
          <ac:spMkLst>
            <pc:docMk/>
            <pc:sldMk cId="2547687032" sldId="308"/>
            <ac:spMk id="2" creationId="{8820E955-917A-4EF6-32EB-2A42F33616FD}"/>
          </ac:spMkLst>
        </pc:spChg>
        <pc:spChg chg="mod">
          <ac:chgData name="Abhishek Ganguly" userId="22516a2d-a205-45d4-89f4-eca4b9d6206f" providerId="ADAL" clId="{51DE3A8A-AAD6-4CFF-800F-4D5BACC2C6EE}" dt="2026-01-22T14:11:07.403" v="612" actId="113"/>
          <ac:spMkLst>
            <pc:docMk/>
            <pc:sldMk cId="2547687032" sldId="308"/>
            <ac:spMk id="6" creationId="{425D43A6-56FB-E543-BE62-6A1F01396DFC}"/>
          </ac:spMkLst>
        </pc:spChg>
      </pc:sldChg>
      <pc:sldChg chg="addSp delSp modSp add mod">
        <pc:chgData name="Abhishek Ganguly" userId="22516a2d-a205-45d4-89f4-eca4b9d6206f" providerId="ADAL" clId="{51DE3A8A-AAD6-4CFF-800F-4D5BACC2C6EE}" dt="2026-01-22T14:21:46.518" v="959" actId="1076"/>
        <pc:sldMkLst>
          <pc:docMk/>
          <pc:sldMk cId="911023806" sldId="309"/>
        </pc:sldMkLst>
        <pc:spChg chg="mod">
          <ac:chgData name="Abhishek Ganguly" userId="22516a2d-a205-45d4-89f4-eca4b9d6206f" providerId="ADAL" clId="{51DE3A8A-AAD6-4CFF-800F-4D5BACC2C6EE}" dt="2026-01-22T14:15:08.870" v="682" actId="1076"/>
          <ac:spMkLst>
            <pc:docMk/>
            <pc:sldMk cId="911023806" sldId="309"/>
            <ac:spMk id="2" creationId="{E27FC76E-E4AB-9B71-C590-8C2734FA3834}"/>
          </ac:spMkLst>
        </pc:spChg>
        <pc:spChg chg="add mod">
          <ac:chgData name="Abhishek Ganguly" userId="22516a2d-a205-45d4-89f4-eca4b9d6206f" providerId="ADAL" clId="{51DE3A8A-AAD6-4CFF-800F-4D5BACC2C6EE}" dt="2026-01-22T14:15:27.122" v="688" actId="1076"/>
          <ac:spMkLst>
            <pc:docMk/>
            <pc:sldMk cId="911023806" sldId="309"/>
            <ac:spMk id="4" creationId="{DBB60A28-D19D-E1D4-A3E6-ADE7F43D10D2}"/>
          </ac:spMkLst>
        </pc:spChg>
        <pc:spChg chg="add mod">
          <ac:chgData name="Abhishek Ganguly" userId="22516a2d-a205-45d4-89f4-eca4b9d6206f" providerId="ADAL" clId="{51DE3A8A-AAD6-4CFF-800F-4D5BACC2C6EE}" dt="2026-01-22T14:19:33.476" v="924" actId="1076"/>
          <ac:spMkLst>
            <pc:docMk/>
            <pc:sldMk cId="911023806" sldId="309"/>
            <ac:spMk id="5" creationId="{418178E1-BEF0-C1EA-3E6A-94A7B97391E5}"/>
          </ac:spMkLst>
        </pc:spChg>
        <pc:spChg chg="add mod">
          <ac:chgData name="Abhishek Ganguly" userId="22516a2d-a205-45d4-89f4-eca4b9d6206f" providerId="ADAL" clId="{51DE3A8A-AAD6-4CFF-800F-4D5BACC2C6EE}" dt="2026-01-22T14:19:36.348" v="925" actId="1076"/>
          <ac:spMkLst>
            <pc:docMk/>
            <pc:sldMk cId="911023806" sldId="309"/>
            <ac:spMk id="7" creationId="{125BEE95-93D3-2BCD-0CDD-54B6BD9022B8}"/>
          </ac:spMkLst>
        </pc:spChg>
        <pc:spChg chg="add mod">
          <ac:chgData name="Abhishek Ganguly" userId="22516a2d-a205-45d4-89f4-eca4b9d6206f" providerId="ADAL" clId="{51DE3A8A-AAD6-4CFF-800F-4D5BACC2C6EE}" dt="2026-01-22T14:19:39.162" v="926" actId="1076"/>
          <ac:spMkLst>
            <pc:docMk/>
            <pc:sldMk cId="911023806" sldId="309"/>
            <ac:spMk id="8" creationId="{D2550F4E-4024-94C6-51EA-979C0B0DCDF0}"/>
          </ac:spMkLst>
        </pc:spChg>
        <pc:spChg chg="add mod">
          <ac:chgData name="Abhishek Ganguly" userId="22516a2d-a205-45d4-89f4-eca4b9d6206f" providerId="ADAL" clId="{51DE3A8A-AAD6-4CFF-800F-4D5BACC2C6EE}" dt="2026-01-22T14:19:49.572" v="930" actId="1076"/>
          <ac:spMkLst>
            <pc:docMk/>
            <pc:sldMk cId="911023806" sldId="309"/>
            <ac:spMk id="9" creationId="{88C5BDFB-F873-8360-9091-A88F039C7959}"/>
          </ac:spMkLst>
        </pc:spChg>
        <pc:spChg chg="add mod">
          <ac:chgData name="Abhishek Ganguly" userId="22516a2d-a205-45d4-89f4-eca4b9d6206f" providerId="ADAL" clId="{51DE3A8A-AAD6-4CFF-800F-4D5BACC2C6EE}" dt="2026-01-22T14:19:54.050" v="932" actId="1076"/>
          <ac:spMkLst>
            <pc:docMk/>
            <pc:sldMk cId="911023806" sldId="309"/>
            <ac:spMk id="10" creationId="{1653A3D9-20B6-4BCC-1319-00D374D2FF55}"/>
          </ac:spMkLst>
        </pc:spChg>
        <pc:cxnChg chg="add mod">
          <ac:chgData name="Abhishek Ganguly" userId="22516a2d-a205-45d4-89f4-eca4b9d6206f" providerId="ADAL" clId="{51DE3A8A-AAD6-4CFF-800F-4D5BACC2C6EE}" dt="2026-01-22T14:21:13.318" v="951" actId="692"/>
          <ac:cxnSpMkLst>
            <pc:docMk/>
            <pc:sldMk cId="911023806" sldId="309"/>
            <ac:cxnSpMk id="12" creationId="{0C9D2130-738C-25A1-25AD-6FBBBB71E634}"/>
          </ac:cxnSpMkLst>
        </pc:cxnChg>
        <pc:cxnChg chg="add mod">
          <ac:chgData name="Abhishek Ganguly" userId="22516a2d-a205-45d4-89f4-eca4b9d6206f" providerId="ADAL" clId="{51DE3A8A-AAD6-4CFF-800F-4D5BACC2C6EE}" dt="2026-01-22T14:21:24.330" v="953" actId="1076"/>
          <ac:cxnSpMkLst>
            <pc:docMk/>
            <pc:sldMk cId="911023806" sldId="309"/>
            <ac:cxnSpMk id="13" creationId="{CA78DA7D-4DF4-05AC-EAEE-14120F4BB6F2}"/>
          </ac:cxnSpMkLst>
        </pc:cxnChg>
        <pc:cxnChg chg="add mod">
          <ac:chgData name="Abhishek Ganguly" userId="22516a2d-a205-45d4-89f4-eca4b9d6206f" providerId="ADAL" clId="{51DE3A8A-AAD6-4CFF-800F-4D5BACC2C6EE}" dt="2026-01-22T14:21:29.622" v="955" actId="1076"/>
          <ac:cxnSpMkLst>
            <pc:docMk/>
            <pc:sldMk cId="911023806" sldId="309"/>
            <ac:cxnSpMk id="14" creationId="{2C7B53FF-9697-2F66-CEF8-17BDAB03C385}"/>
          </ac:cxnSpMkLst>
        </pc:cxnChg>
        <pc:cxnChg chg="add mod">
          <ac:chgData name="Abhishek Ganguly" userId="22516a2d-a205-45d4-89f4-eca4b9d6206f" providerId="ADAL" clId="{51DE3A8A-AAD6-4CFF-800F-4D5BACC2C6EE}" dt="2026-01-22T14:21:40.726" v="957" actId="1076"/>
          <ac:cxnSpMkLst>
            <pc:docMk/>
            <pc:sldMk cId="911023806" sldId="309"/>
            <ac:cxnSpMk id="15" creationId="{0D9DBE2F-3B92-0098-229A-02360A5D84D8}"/>
          </ac:cxnSpMkLst>
        </pc:cxnChg>
        <pc:cxnChg chg="add mod">
          <ac:chgData name="Abhishek Ganguly" userId="22516a2d-a205-45d4-89f4-eca4b9d6206f" providerId="ADAL" clId="{51DE3A8A-AAD6-4CFF-800F-4D5BACC2C6EE}" dt="2026-01-22T14:21:46.518" v="959" actId="1076"/>
          <ac:cxnSpMkLst>
            <pc:docMk/>
            <pc:sldMk cId="911023806" sldId="309"/>
            <ac:cxnSpMk id="16" creationId="{23A84B92-0457-CF0A-4F1C-79F7110A372E}"/>
          </ac:cxnSpMkLst>
        </pc:cxnChg>
      </pc:sldChg>
      <pc:sldChg chg="addSp delSp modSp add mod ord">
        <pc:chgData name="Abhishek Ganguly" userId="22516a2d-a205-45d4-89f4-eca4b9d6206f" providerId="ADAL" clId="{51DE3A8A-AAD6-4CFF-800F-4D5BACC2C6EE}" dt="2026-01-22T17:37:08.077" v="976" actId="20577"/>
        <pc:sldMkLst>
          <pc:docMk/>
          <pc:sldMk cId="2367863897" sldId="310"/>
        </pc:sldMkLst>
        <pc:spChg chg="mod">
          <ac:chgData name="Abhishek Ganguly" userId="22516a2d-a205-45d4-89f4-eca4b9d6206f" providerId="ADAL" clId="{51DE3A8A-AAD6-4CFF-800F-4D5BACC2C6EE}" dt="2026-01-22T17:35:56.465" v="967" actId="108"/>
          <ac:spMkLst>
            <pc:docMk/>
            <pc:sldMk cId="2367863897" sldId="310"/>
            <ac:spMk id="2" creationId="{018A48D2-916A-4E50-CD56-68767C1A7921}"/>
          </ac:spMkLst>
        </pc:spChg>
        <pc:spChg chg="add mod">
          <ac:chgData name="Abhishek Ganguly" userId="22516a2d-a205-45d4-89f4-eca4b9d6206f" providerId="ADAL" clId="{51DE3A8A-AAD6-4CFF-800F-4D5BACC2C6EE}" dt="2026-01-22T17:37:08.077" v="976" actId="20577"/>
          <ac:spMkLst>
            <pc:docMk/>
            <pc:sldMk cId="2367863897" sldId="310"/>
            <ac:spMk id="5" creationId="{91A3A944-E864-FC62-126B-37AE5D485E9E}"/>
          </ac:spMkLst>
        </pc:spChg>
      </pc:sldChg>
      <pc:sldChg chg="addSp delSp modSp add mod">
        <pc:chgData name="Abhishek Ganguly" userId="22516a2d-a205-45d4-89f4-eca4b9d6206f" providerId="ADAL" clId="{51DE3A8A-AAD6-4CFF-800F-4D5BACC2C6EE}" dt="2026-01-22T17:53:25.318" v="1141" actId="20577"/>
        <pc:sldMkLst>
          <pc:docMk/>
          <pc:sldMk cId="165007996" sldId="311"/>
        </pc:sldMkLst>
        <pc:spChg chg="mod">
          <ac:chgData name="Abhishek Ganguly" userId="22516a2d-a205-45d4-89f4-eca4b9d6206f" providerId="ADAL" clId="{51DE3A8A-AAD6-4CFF-800F-4D5BACC2C6EE}" dt="2026-01-22T17:52:25.385" v="1127" actId="1076"/>
          <ac:spMkLst>
            <pc:docMk/>
            <pc:sldMk cId="165007996" sldId="311"/>
            <ac:spMk id="2" creationId="{72478F0D-A5A5-A4DB-BE37-DD67852C398B}"/>
          </ac:spMkLst>
        </pc:spChg>
        <pc:spChg chg="add mod">
          <ac:chgData name="Abhishek Ganguly" userId="22516a2d-a205-45d4-89f4-eca4b9d6206f" providerId="ADAL" clId="{51DE3A8A-AAD6-4CFF-800F-4D5BACC2C6EE}" dt="2026-01-22T17:53:25.318" v="1141" actId="20577"/>
          <ac:spMkLst>
            <pc:docMk/>
            <pc:sldMk cId="165007996" sldId="311"/>
            <ac:spMk id="12" creationId="{EDE86B66-B723-C140-3F09-D31D7D3E9EDC}"/>
          </ac:spMkLst>
        </pc:spChg>
      </pc:sldChg>
      <pc:sldChg chg="modSp add mod ord">
        <pc:chgData name="Abhishek Ganguly" userId="22516a2d-a205-45d4-89f4-eca4b9d6206f" providerId="ADAL" clId="{51DE3A8A-AAD6-4CFF-800F-4D5BACC2C6EE}" dt="2026-01-22T17:44:55.112" v="1059" actId="1076"/>
        <pc:sldMkLst>
          <pc:docMk/>
          <pc:sldMk cId="4141105299" sldId="312"/>
        </pc:sldMkLst>
        <pc:spChg chg="mod">
          <ac:chgData name="Abhishek Ganguly" userId="22516a2d-a205-45d4-89f4-eca4b9d6206f" providerId="ADAL" clId="{51DE3A8A-AAD6-4CFF-800F-4D5BACC2C6EE}" dt="2026-01-22T17:44:55.112" v="1059" actId="1076"/>
          <ac:spMkLst>
            <pc:docMk/>
            <pc:sldMk cId="4141105299" sldId="312"/>
            <ac:spMk id="2" creationId="{1DD2FB1F-866E-31FA-68FD-B07A7B1220D5}"/>
          </ac:spMkLst>
        </pc:spChg>
      </pc:sldChg>
      <pc:sldChg chg="add">
        <pc:chgData name="Abhishek Ganguly" userId="22516a2d-a205-45d4-89f4-eca4b9d6206f" providerId="ADAL" clId="{51DE3A8A-AAD6-4CFF-800F-4D5BACC2C6EE}" dt="2026-01-22T17:45:54.218" v="1060" actId="2890"/>
        <pc:sldMkLst>
          <pc:docMk/>
          <pc:sldMk cId="4037795849" sldId="313"/>
        </pc:sldMkLst>
      </pc:sldChg>
      <pc:sldChg chg="add">
        <pc:chgData name="Abhishek Ganguly" userId="22516a2d-a205-45d4-89f4-eca4b9d6206f" providerId="ADAL" clId="{51DE3A8A-AAD6-4CFF-800F-4D5BACC2C6EE}" dt="2026-01-22T17:51:29.843" v="1119" actId="2890"/>
        <pc:sldMkLst>
          <pc:docMk/>
          <pc:sldMk cId="2300953789" sldId="31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9CB7-2581-8C18-7B11-2FFB9AF22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9FF41-CD9D-21EC-7966-E832915A0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88EDE-D40C-9FB9-EFE4-5A2B20E81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0D520-ABF6-D1E8-2CD6-D6D4C3C9E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664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FF2F4-1763-0B44-C737-96A8653C1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02091-29DD-B25B-2F29-E7BA3CCBA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D5510-3663-E53F-6031-3966BB645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3CBAD-6076-94E2-E1D5-84DBBDFD3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405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97760-C726-49D9-BFC1-455D319D9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DFD8F-75BD-E1B4-5DB7-973F31836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282EA-F98B-F011-5E97-AD51EF2A3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1DE57-09C9-BD1E-CE3F-51BC60F6D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99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C5E5A-7B60-C297-F7DA-DBFCED88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5C710-EEE5-F3A8-C61F-B0466A058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ABEAF-814B-C82A-4855-ECA0876EE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AD238-0382-275F-1D5C-930189624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258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3F457-BBC3-8C37-4AD3-11B1E1C2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34BD3-387A-1DE7-E8FA-2EAFBCE84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ED6A1-EDF2-93AB-BBF9-3FFEE62CE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8F8B7-62F1-E65A-7261-B6A592328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14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02685-5421-5DE5-B111-FAB11B9F5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57AA1-5E32-FF3D-C55E-D1F3413D7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90FF8-E9A0-4EB9-8032-3AD335FF1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87AE9-7C4F-75BB-CCFE-D207AD91B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584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701A-98E6-5803-26E5-8444A2265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1EE90-28B4-97AF-71D6-9BBAAD82A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11A90-5D21-4094-E606-2726FA96D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E0BA8-FBD7-FDA0-2F66-0C46A7277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57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6143F-4E52-0C13-D7DD-093F0630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6A8B7-D82B-07B2-5429-D41B6B645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E1249-8BF7-AA70-3CE9-0F7389DAA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32D1E-DD32-F412-E676-4F73EB710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693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710B3-D291-4D4B-C620-A479C72F7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1300B-8577-0259-D99E-A8C4FF11E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4E6A2-079E-FA3B-D494-4EDEDB800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21A2F-EDB9-3D06-AC93-6F106B0EE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4406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2FAA-5DE7-0877-1790-C9567EFA2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531FA-17BD-9303-52C9-D09CB17C5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73C75-BEEE-DBA9-3BAA-902486958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358C9-9687-BCC8-4AD5-A2CB87F7B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78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7ABE6-17FC-03A4-E5C7-F4D4E606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2E3D4-CD90-2951-BF00-997652893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0B5B1-35C5-E670-BC4F-22DB94FD2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04B83-36AE-AEA4-09DD-619A0F0AF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166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099C9-0D40-E71B-CDEB-ECF2E59A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31FB8-68CC-702B-EEE4-1DC2C6F86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B7BC7A-60EC-9CF1-A2AD-B375DF68B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0BEB6-EC96-E4A8-B434-948AEE266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52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5AD3B-C9CC-B197-4C97-DBA0E5821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6C10A-DCB2-CBCD-D88B-A8C53BBB3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03462-B22A-7A53-8625-B3D41E49A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30BD5-04F2-FDB0-9EB5-C76F21366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05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2F9B-9344-1B93-2889-CE62210E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2E6F1-8AED-A153-98BF-5BD718FBE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7822E-DDEB-5991-8599-5D1924BD1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B0604-2341-7DF8-5A3A-71E99BD3D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0627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37D52-0472-18C7-E405-9CCA5DDBC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55E20-CDA7-C15C-4D1B-AD5851649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91FC7E-3CD9-C170-36E9-8766FFD54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38FFF-DE1A-40FA-D6F9-38E54D09C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1354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90BCE-AABE-6E77-05B9-D83F0C87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91144-2DB7-E154-3531-065D3F242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85083-B0C0-455E-ED23-1B2A215A3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7D789-26C3-4548-C091-49620BFE0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0540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C61B2-28E0-0A43-6DBF-C51F7B4A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A2EC0-D76C-4A46-2DAA-7D7CF3DB5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810608-8317-6127-775E-7170B08A7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E03F3-0E84-F542-63A6-F6453D430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14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A881B-9572-05B6-44F9-4D2CDEADA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08B71-003A-8B49-DC4E-F70E2A23A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3ED63-088C-1F30-B4CB-2B2541CC8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0B875-B57C-AF64-422C-EA5C593F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12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49307-D57F-FC4B-306E-9AAE5651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8D08C-9BF4-11FC-D6B2-B8619D1F7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63B2C-3D6D-B788-BF76-9AE42F6E4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21EE8-02AD-C1B0-CF5B-A4F8FA0A9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6617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0D33F-FBA2-595F-D45E-5D448B902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86D8F-DF9E-D72E-8414-A91AB9DB5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D6033-3DF0-430B-692D-4374319A7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DB112-0AD9-4564-88FF-1DDEDA421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8482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CF409-DDE5-79CA-AE11-40C7568E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B80C1-690A-46E0-9B24-435472071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270E2D-6461-2069-0792-56173EB6B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DA98B-3B02-8D06-57C3-3A637CC2E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7188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229F3-C82A-A1C5-B2F8-B6F3F6E5F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961B2-6BD5-9B55-C61F-94699AD7B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41BC1-3780-952E-7D28-5A574D9B2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00CF2-52B4-2D75-E801-6328E38A2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325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400" y="425670"/>
            <a:ext cx="8019393" cy="3400096"/>
          </a:xfrm>
        </p:spPr>
        <p:txBody>
          <a:bodyPr>
            <a:normAutofit/>
          </a:bodyPr>
          <a:lstStyle/>
          <a:p>
            <a:br>
              <a:rPr lang="en-IN" sz="4000" b="0" dirty="0"/>
            </a:br>
            <a:r>
              <a:rPr lang="en-US" sz="4000" dirty="0"/>
              <a:t>Enterprise Data Architect Case Study: </a:t>
            </a:r>
            <a:br>
              <a:rPr lang="en-US" sz="4000" dirty="0"/>
            </a:br>
            <a:r>
              <a:rPr lang="en-US" sz="4000" dirty="0"/>
              <a:t>Data Platform Transformation for AI 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82" y="-395590"/>
            <a:ext cx="8811012" cy="378373"/>
          </a:xfrm>
        </p:spPr>
        <p:txBody>
          <a:bodyPr>
            <a:noAutofit/>
          </a:bodyPr>
          <a:lstStyle/>
          <a:p>
            <a:br>
              <a:rPr lang="en-IN" sz="3200" b="0" dirty="0"/>
            </a:br>
            <a:r>
              <a:rPr lang="en-US" sz="3200" b="0" dirty="0"/>
              <a:t> </a:t>
            </a:r>
            <a:r>
              <a:rPr lang="en-US" sz="2000" dirty="0"/>
              <a:t>The Challenge (The Situation &amp; Mandate)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7AAA5BB3-70AF-AD97-FE1B-E95A572E6BC9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3335925307"/>
              </p:ext>
            </p:extLst>
          </p:nvPr>
        </p:nvGraphicFramePr>
        <p:xfrm>
          <a:off x="514313" y="1195183"/>
          <a:ext cx="9785823" cy="534372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008169">
                  <a:extLst>
                    <a:ext uri="{9D8B030D-6E8A-4147-A177-3AD203B41FA5}">
                      <a16:colId xmlns:a16="http://schemas.microsoft.com/office/drawing/2014/main" val="1688890565"/>
                    </a:ext>
                  </a:extLst>
                </a:gridCol>
                <a:gridCol w="4393324">
                  <a:extLst>
                    <a:ext uri="{9D8B030D-6E8A-4147-A177-3AD203B41FA5}">
                      <a16:colId xmlns:a16="http://schemas.microsoft.com/office/drawing/2014/main" val="186995111"/>
                    </a:ext>
                  </a:extLst>
                </a:gridCol>
                <a:gridCol w="3384330">
                  <a:extLst>
                    <a:ext uri="{9D8B030D-6E8A-4147-A177-3AD203B41FA5}">
                      <a16:colId xmlns:a16="http://schemas.microsoft.com/office/drawing/2014/main" val="3003669128"/>
                    </a:ext>
                  </a:extLst>
                </a:gridCol>
              </a:tblGrid>
              <a:tr h="711598">
                <a:tc>
                  <a:txBody>
                    <a:bodyPr/>
                    <a:lstStyle/>
                    <a:p>
                      <a:endParaRPr lang="en-IN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Problem </a:t>
                      </a:r>
                      <a:r>
                        <a:rPr lang="en-I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Explanation (The Pain) </a:t>
                      </a:r>
                      <a:r>
                        <a:rPr lang="en-I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Strategic Impact (CSO) </a:t>
                      </a:r>
                      <a:r>
                        <a:rPr lang="en-I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95745"/>
                  </a:ext>
                </a:extLst>
              </a:tr>
              <a:tr h="1607684">
                <a:tc>
                  <a:txBody>
                    <a:bodyPr/>
                    <a:lstStyle/>
                    <a:p>
                      <a:endParaRPr lang="en-IN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Variable Schema &amp; Embedded Data </a:t>
                      </a:r>
                      <a:r>
                        <a:rPr lang="en-I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Our platform is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low-code/no-code</a:t>
                      </a: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meaning the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schema is customer-specific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 the same application. Data is highly nested, and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critical Master Data is embedded</a:t>
                      </a: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	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Cost &amp; Scale: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Leads to massive duplication, requires complex, inefficient processing logic, and drives high cloud costs. 	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200003"/>
                  </a:ext>
                </a:extLst>
              </a:tr>
              <a:tr h="1581329">
                <a:tc>
                  <a:txBody>
                    <a:bodyPr/>
                    <a:lstStyle/>
                    <a:p>
                      <a:endParaRPr lang="en-IN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Monolithic Lock-in &amp; Efficiency </a:t>
                      </a:r>
                      <a:r>
                        <a:rPr lang="en-I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is proprietary and inefficient, operating in batch and preventing migration to cost-effective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OSS Spark/Kubernetes</a:t>
                      </a: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	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Cost &amp; Latency: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Blocks near real-time data flow, preventing cloud cost optimization. 	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861690"/>
                  </a:ext>
                </a:extLst>
              </a:tr>
              <a:tr h="1423196">
                <a:tc>
                  <a:txBody>
                    <a:bodyPr/>
                    <a:lstStyle/>
                    <a:p>
                      <a:endParaRPr lang="en-IN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 Latency Block </a:t>
                      </a:r>
                      <a:r>
                        <a:rPr lang="en-IN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We cannot consistently process data at the required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5-10 minute latency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needed for real-time AI features and conversational agents. 	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Observability &amp; AI: </a:t>
                      </a: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Hinders proactive monitoring and makes predictive use cases impossible. 	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49982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6C558B8-3163-021E-7E63-94581B596BB4}"/>
              </a:ext>
            </a:extLst>
          </p:cNvPr>
          <p:cNvSpPr txBox="1"/>
          <p:nvPr/>
        </p:nvSpPr>
        <p:spPr>
          <a:xfrm>
            <a:off x="283086" y="466100"/>
            <a:ext cx="107258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Our multi-tenant data platform is currently blocked from achieving AI capabilities due to legacy architectural debt. Mandate </a:t>
            </a:r>
            <a:endParaRPr lang="en-IN" sz="16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is to provide strategic and technical suggestions to our team on how to execute the full transformation.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3B0E-E393-9575-BB33-FC097547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765588-90BC-4850-F79F-26C29F0E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82" y="-395590"/>
            <a:ext cx="8811012" cy="378373"/>
          </a:xfrm>
        </p:spPr>
        <p:txBody>
          <a:bodyPr>
            <a:noAutofit/>
          </a:bodyPr>
          <a:lstStyle/>
          <a:p>
            <a:br>
              <a:rPr lang="en-IN" sz="3200" b="0" dirty="0"/>
            </a:br>
            <a:r>
              <a:rPr lang="en-US" sz="3200" b="0" dirty="0"/>
              <a:t> </a:t>
            </a:r>
            <a:r>
              <a:rPr lang="en-US" sz="2400" dirty="0"/>
              <a:t>The SOLUTION AREAS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AB8C8-1CA3-8172-5211-790908FF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F16A0-40AF-EDD8-228A-D326B79145F1}"/>
              </a:ext>
            </a:extLst>
          </p:cNvPr>
          <p:cNvSpPr txBox="1"/>
          <p:nvPr/>
        </p:nvSpPr>
        <p:spPr>
          <a:xfrm>
            <a:off x="467710" y="1311193"/>
            <a:ext cx="94015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Foundational Fix: Data Layering, Decoupling, and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Achieving Real-Time Performance and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Open-Source Transition, Observability, and 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Strategic Pivot: Data for AI and Agent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Key discussion points</a:t>
            </a:r>
          </a:p>
        </p:txBody>
      </p:sp>
    </p:spTree>
    <p:extLst>
      <p:ext uri="{BB962C8B-B14F-4D97-AF65-F5344CB8AC3E}">
        <p14:creationId xmlns:p14="http://schemas.microsoft.com/office/powerpoint/2010/main" val="524661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E42B4-0DBE-0F11-F33C-5E81158B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B0C0-4B90-AA70-ADC4-DCA611421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3486" y="1111843"/>
            <a:ext cx="7868307" cy="2685383"/>
          </a:xfrm>
        </p:spPr>
        <p:txBody>
          <a:bodyPr>
            <a:normAutofit/>
          </a:bodyPr>
          <a:lstStyle/>
          <a:p>
            <a:r>
              <a:rPr lang="en-IN" dirty="0"/>
              <a:t>The Foundational Fix: Data Layering, Decoupling, and Cost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888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" y="202429"/>
            <a:ext cx="10668000" cy="1325563"/>
          </a:xfrm>
        </p:spPr>
        <p:txBody>
          <a:bodyPr>
            <a:normAutofit/>
          </a:bodyPr>
          <a:lstStyle/>
          <a:p>
            <a:r>
              <a:rPr lang="en-IN" sz="2400" dirty="0"/>
              <a:t>Architectural Suggestion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ADBE85-A33D-6169-2EC8-FF03383FD232}"/>
              </a:ext>
            </a:extLst>
          </p:cNvPr>
          <p:cNvSpPr txBox="1"/>
          <p:nvPr/>
        </p:nvSpPr>
        <p:spPr>
          <a:xfrm>
            <a:off x="173420" y="697220"/>
            <a:ext cx="1038947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Medallion Architecture</a:t>
            </a:r>
          </a:p>
          <a:p>
            <a:pPr marL="0" marR="0">
              <a:buNone/>
            </a:pPr>
            <a:endParaRPr lang="en-IN" sz="20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Bronze Layer (Raw/Landing)</a:t>
            </a:r>
            <a:endParaRPr lang="en-IN" sz="20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</a:rPr>
              <a:t>Immutable, append-only storage of raw data as ingested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</a:rPr>
              <a:t>Preserves complete audit trail and enables replay capability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</a:rPr>
              <a:t>Handles variable schemas via schema-on-read patterns</a:t>
            </a:r>
          </a:p>
          <a:p>
            <a:pPr rtl="0" fontAlgn="ctr"/>
            <a:endParaRPr lang="en-IN" sz="20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Silver Layer (Cleansed/Conformed)</a:t>
            </a:r>
            <a:endParaRPr lang="en-IN" sz="20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</a:rPr>
              <a:t>Schema enforcement and validation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</a:rPr>
              <a:t>Master data extraction and normalization occurs here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</a:rPr>
              <a:t>Change Data Capture (CDC) processing for incremental loads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20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Gold Layer (Semantic/Feature)</a:t>
            </a:r>
            <a:endParaRPr lang="en-IN" sz="20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</a:rPr>
              <a:t>Business-oriented, denormalized aggregates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</a:rPr>
              <a:t>Optimized for consumption (Analytics + AI)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Calibri" panose="020F0502020204030204" pitchFamily="34" charset="0"/>
              </a:rPr>
              <a:t>Pre-computed features for ML models</a:t>
            </a:r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606E0-7A76-8E15-A461-2016BFA9C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9D80A-9EC0-9976-134C-33839E66E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" y="202429"/>
            <a:ext cx="10668000" cy="1325563"/>
          </a:xfrm>
        </p:spPr>
        <p:txBody>
          <a:bodyPr>
            <a:normAutofit/>
          </a:bodyPr>
          <a:lstStyle/>
          <a:p>
            <a:r>
              <a:rPr lang="en-IN" sz="2400" dirty="0"/>
              <a:t>Separation Strategy for variable schema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FEF3A4-940F-58F6-8343-95C5AD33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DA288-230C-0193-10B7-E174FEBEB425}"/>
              </a:ext>
            </a:extLst>
          </p:cNvPr>
          <p:cNvSpPr txBox="1"/>
          <p:nvPr/>
        </p:nvSpPr>
        <p:spPr>
          <a:xfrm>
            <a:off x="257501" y="644492"/>
            <a:ext cx="11020097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Approach: Parameterized Schema Registry + Dynamic Parser</a:t>
            </a:r>
          </a:p>
          <a:p>
            <a:pPr marL="0" marR="0">
              <a:buNone/>
            </a:pPr>
            <a:endParaRPr lang="en-IN" sz="20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2000" b="1" i="0" dirty="0">
                <a:effectLst/>
                <a:latin typeface="Calibri" panose="020F0502020204030204" pitchFamily="34" charset="0"/>
              </a:rPr>
              <a:t>Schema Registry Implementation: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2000" i="0" dirty="0">
                <a:effectLst/>
                <a:latin typeface="Calibri" panose="020F0502020204030204" pitchFamily="34" charset="0"/>
              </a:rPr>
              <a:t>Central registry mapping </a:t>
            </a:r>
            <a:r>
              <a:rPr lang="en-IN" sz="2000" i="0" dirty="0" err="1">
                <a:effectLst/>
                <a:latin typeface="Calibri" panose="020F0502020204030204" pitchFamily="34" charset="0"/>
              </a:rPr>
              <a:t>tenant_id</a:t>
            </a:r>
            <a:r>
              <a:rPr lang="en-IN" sz="2000" i="0" dirty="0">
                <a:effectLst/>
                <a:latin typeface="Calibri" panose="020F0502020204030204" pitchFamily="34" charset="0"/>
              </a:rPr>
              <a:t> → </a:t>
            </a:r>
            <a:r>
              <a:rPr lang="en-IN" sz="2000" i="0" dirty="0" err="1">
                <a:effectLst/>
                <a:latin typeface="Calibri" panose="020F0502020204030204" pitchFamily="34" charset="0"/>
              </a:rPr>
              <a:t>schema_version</a:t>
            </a:r>
            <a:r>
              <a:rPr lang="en-IN" sz="2000" i="0" dirty="0">
                <a:effectLst/>
                <a:latin typeface="Calibri" panose="020F0502020204030204" pitchFamily="34" charset="0"/>
              </a:rPr>
              <a:t> → </a:t>
            </a:r>
            <a:r>
              <a:rPr lang="en-IN" sz="2000" i="0" dirty="0" err="1">
                <a:effectLst/>
                <a:latin typeface="Calibri" panose="020F0502020204030204" pitchFamily="34" charset="0"/>
              </a:rPr>
              <a:t>field_mappings</a:t>
            </a:r>
            <a:endParaRPr lang="en-IN" sz="2000" i="0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2000" i="0" dirty="0">
                <a:effectLst/>
                <a:latin typeface="Calibri" panose="020F0502020204030204" pitchFamily="34" charset="0"/>
              </a:rPr>
              <a:t>JSON/Avro schema definitions per customer variant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2000" i="0" dirty="0">
                <a:effectLst/>
                <a:latin typeface="Calibri" panose="020F0502020204030204" pitchFamily="34" charset="0"/>
              </a:rPr>
              <a:t>Version control for schema evolution</a:t>
            </a:r>
          </a:p>
          <a:p>
            <a:pPr lvl="1" rtl="0" fontAlgn="ctr"/>
            <a:endParaRPr lang="en-IN" sz="2000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2000" b="1" i="0" dirty="0">
                <a:effectLst/>
                <a:latin typeface="Calibri" panose="020F0502020204030204" pitchFamily="34" charset="0"/>
              </a:rPr>
              <a:t>Master Data Extraction Process:</a:t>
            </a:r>
            <a:br>
              <a:rPr lang="en-IN" sz="2000" b="1" i="0" dirty="0">
                <a:effectLst/>
                <a:latin typeface="Calibri" panose="020F0502020204030204" pitchFamily="34" charset="0"/>
              </a:rPr>
            </a:br>
            <a:r>
              <a:rPr lang="en-IN" sz="2000" b="0" i="0" dirty="0">
                <a:effectLst/>
                <a:latin typeface="Calibri" panose="020F0502020204030204" pitchFamily="34" charset="0"/>
              </a:rPr>
              <a:t>Bronze → Schema Detection → Master Data Extractor (Parameterized) → Silver</a:t>
            </a:r>
            <a:br>
              <a:rPr lang="en-IN" sz="2000" b="0" i="0" dirty="0">
                <a:effectLst/>
                <a:latin typeface="Calibri" panose="020F0502020204030204" pitchFamily="34" charset="0"/>
              </a:rPr>
            </a:br>
            <a:br>
              <a:rPr lang="en-IN" sz="2000" b="0" i="0" dirty="0">
                <a:effectLst/>
                <a:latin typeface="Calibri" panose="020F0502020204030204" pitchFamily="34" charset="0"/>
              </a:rPr>
            </a:br>
            <a:r>
              <a:rPr lang="en-IN" sz="2000" b="0" i="0" dirty="0">
                <a:effectLst/>
                <a:latin typeface="Calibri" panose="020F0502020204030204" pitchFamily="34" charset="0"/>
              </a:rPr>
              <a:t>Parameters:</a:t>
            </a:r>
            <a:br>
              <a:rPr lang="en-IN" sz="2000" b="0" i="0" dirty="0">
                <a:effectLst/>
                <a:latin typeface="Calibri" panose="020F0502020204030204" pitchFamily="34" charset="0"/>
              </a:rPr>
            </a:br>
            <a:r>
              <a:rPr lang="en-IN" sz="2000" b="0" i="0" dirty="0">
                <a:effectLst/>
                <a:latin typeface="Calibri" panose="020F0502020204030204" pitchFamily="34" charset="0"/>
              </a:rPr>
              <a:t>- Tenant configuration (which fields = master data)</a:t>
            </a:r>
            <a:br>
              <a:rPr lang="en-IN" sz="2000" b="0" i="0" dirty="0">
                <a:effectLst/>
                <a:latin typeface="Calibri" panose="020F0502020204030204" pitchFamily="34" charset="0"/>
              </a:rPr>
            </a:br>
            <a:r>
              <a:rPr lang="en-IN" sz="2000" b="0" i="0" dirty="0">
                <a:effectLst/>
                <a:latin typeface="Calibri" panose="020F0502020204030204" pitchFamily="34" charset="0"/>
              </a:rPr>
              <a:t>- Extraction rules (XPath/</a:t>
            </a:r>
            <a:r>
              <a:rPr lang="en-IN" sz="2000" b="0" i="0" dirty="0" err="1">
                <a:effectLst/>
                <a:latin typeface="Calibri" panose="020F0502020204030204" pitchFamily="34" charset="0"/>
              </a:rPr>
              <a:t>JSONPath</a:t>
            </a:r>
            <a:r>
              <a:rPr lang="en-IN" sz="2000" b="0" i="0" dirty="0">
                <a:effectLst/>
                <a:latin typeface="Calibri" panose="020F0502020204030204" pitchFamily="34" charset="0"/>
              </a:rPr>
              <a:t> for nested data)</a:t>
            </a:r>
            <a:br>
              <a:rPr lang="en-IN" sz="2000" b="0" i="0" dirty="0">
                <a:effectLst/>
                <a:latin typeface="Calibri" panose="020F0502020204030204" pitchFamily="34" charset="0"/>
              </a:rPr>
            </a:br>
            <a:r>
              <a:rPr lang="en-IN" sz="2000" b="0" i="0" dirty="0">
                <a:effectLst/>
                <a:latin typeface="Calibri" panose="020F0502020204030204" pitchFamily="34" charset="0"/>
              </a:rPr>
              <a:t>- Normalization mappings (</a:t>
            </a:r>
            <a:r>
              <a:rPr lang="en-IN" sz="2000" b="0" i="0" dirty="0" err="1">
                <a:effectLst/>
                <a:latin typeface="Calibri" panose="020F0502020204030204" pitchFamily="34" charset="0"/>
              </a:rPr>
              <a:t>customer_specific_field</a:t>
            </a:r>
            <a:r>
              <a:rPr lang="en-IN" sz="2000" b="0" i="0" dirty="0">
                <a:effectLst/>
                <a:latin typeface="Calibri" panose="020F0502020204030204" pitchFamily="34" charset="0"/>
              </a:rPr>
              <a:t> → </a:t>
            </a:r>
            <a:r>
              <a:rPr lang="en-IN" sz="2000" b="0" i="0" dirty="0" err="1">
                <a:effectLst/>
                <a:latin typeface="Calibri" panose="020F0502020204030204" pitchFamily="34" charset="0"/>
              </a:rPr>
              <a:t>canonical_field</a:t>
            </a:r>
            <a:r>
              <a:rPr lang="en-IN" sz="2000" b="0" i="0" dirty="0">
                <a:effectLst/>
                <a:latin typeface="Calibri" panose="020F0502020204030204" pitchFamily="34" charset="0"/>
              </a:rPr>
              <a:t>)</a:t>
            </a:r>
            <a:br>
              <a:rPr lang="en-IN" sz="2000" b="0" i="0" dirty="0">
                <a:effectLst/>
                <a:latin typeface="Calibri" panose="020F0502020204030204" pitchFamily="34" charset="0"/>
              </a:rPr>
            </a:br>
            <a:endParaRPr lang="en-IN" sz="2000" b="1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2000" b="1" i="0" dirty="0">
                <a:effectLst/>
                <a:latin typeface="Calibri" panose="020F0502020204030204" pitchFamily="34" charset="0"/>
              </a:rPr>
              <a:t>Lossless Fidelity Guarantee: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2000" i="0" dirty="0">
                <a:effectLst/>
                <a:latin typeface="Calibri" panose="020F0502020204030204" pitchFamily="34" charset="0"/>
              </a:rPr>
              <a:t>Maintain Bronze layer with complete raw data (permanent audit trail)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2000" i="0" dirty="0">
                <a:effectLst/>
                <a:latin typeface="Calibri" panose="020F0502020204030204" pitchFamily="34" charset="0"/>
              </a:rPr>
              <a:t>Use hash-based validation checksums at each layer transition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2000" i="0" dirty="0">
                <a:effectLst/>
                <a:latin typeface="Calibri" panose="020F0502020204030204" pitchFamily="34" charset="0"/>
              </a:rPr>
              <a:t>Implement reconciliation framework comparing record counts and key metrics</a:t>
            </a:r>
          </a:p>
        </p:txBody>
      </p:sp>
    </p:spTree>
    <p:extLst>
      <p:ext uri="{BB962C8B-B14F-4D97-AF65-F5344CB8AC3E}">
        <p14:creationId xmlns:p14="http://schemas.microsoft.com/office/powerpoint/2010/main" val="2793065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C2028-F749-8260-D6FA-C4983164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03B22-29F4-EC19-FDC5-E82EE8ED4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" y="202429"/>
            <a:ext cx="106680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Cost justification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53D921-40B4-8FE2-7CE2-D0CE707D3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1B5BF1-4E03-E18D-9651-4E28356A37EA}"/>
              </a:ext>
            </a:extLst>
          </p:cNvPr>
          <p:cNvSpPr txBox="1"/>
          <p:nvPr/>
        </p:nvSpPr>
        <p:spPr>
          <a:xfrm>
            <a:off x="173420" y="1085927"/>
            <a:ext cx="114615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400" b="1" dirty="0">
                <a:effectLst/>
                <a:latin typeface="Calibri" panose="020F0502020204030204" pitchFamily="34" charset="0"/>
              </a:rPr>
              <a:t>Immediate Savings from De-duplication:</a:t>
            </a:r>
            <a:endParaRPr lang="en-IN" sz="24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Calibri" panose="020F0502020204030204" pitchFamily="34" charset="0"/>
              </a:rPr>
              <a:t>Example:</a:t>
            </a:r>
            <a:r>
              <a:rPr lang="en-IN" sz="2400" dirty="0">
                <a:effectLst/>
                <a:latin typeface="Calibri" panose="020F0502020204030204" pitchFamily="34" charset="0"/>
              </a:rPr>
              <a:t> If Customer entity is embedded in 10 transaction types, each with 500K daily records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Calibri" panose="020F0502020204030204" pitchFamily="34" charset="0"/>
              </a:rPr>
              <a:t>Current State:</a:t>
            </a:r>
            <a:r>
              <a:rPr lang="en-IN" sz="2400" dirty="0">
                <a:effectLst/>
                <a:latin typeface="Calibri" panose="020F0502020204030204" pitchFamily="34" charset="0"/>
              </a:rPr>
              <a:t> 5M redundant customer records stored daily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Calibri" panose="020F0502020204030204" pitchFamily="34" charset="0"/>
              </a:rPr>
              <a:t>Post-Normalization:</a:t>
            </a:r>
            <a:r>
              <a:rPr lang="en-IN" sz="2400" dirty="0">
                <a:effectLst/>
                <a:latin typeface="Calibri" panose="020F0502020204030204" pitchFamily="34" charset="0"/>
              </a:rPr>
              <a:t> ~50K unique customer records + 5M lightweight references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Calibri" panose="020F0502020204030204" pitchFamily="34" charset="0"/>
              </a:rPr>
              <a:t>Storage Reduction:</a:t>
            </a:r>
            <a:r>
              <a:rPr lang="en-IN" sz="2400" dirty="0">
                <a:effectLst/>
                <a:latin typeface="Calibri" panose="020F0502020204030204" pitchFamily="34" charset="0"/>
              </a:rPr>
              <a:t> ~99% for master data components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Calibri" panose="020F0502020204030204" pitchFamily="34" charset="0"/>
              </a:rPr>
              <a:t>Compute Reduction:</a:t>
            </a:r>
            <a:r>
              <a:rPr lang="en-IN" sz="2400" dirty="0">
                <a:effectLst/>
                <a:latin typeface="Calibri" panose="020F0502020204030204" pitchFamily="34" charset="0"/>
              </a:rPr>
              <a:t> Eliminate redundant transformations on duplicated data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24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2400" b="1" dirty="0">
                <a:effectLst/>
                <a:latin typeface="Calibri" panose="020F0502020204030204" pitchFamily="34" charset="0"/>
              </a:rPr>
              <a:t>Real-World Impact:</a:t>
            </a:r>
            <a:endParaRPr lang="en-IN" sz="24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" panose="020F0502020204030204" pitchFamily="34" charset="0"/>
              </a:rPr>
              <a:t>40-60% reduction in storage costs (S3/ADLS)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" panose="020F0502020204030204" pitchFamily="34" charset="0"/>
              </a:rPr>
              <a:t>30-50% reduction in compute time (fewer data movements)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" panose="020F0502020204030204" pitchFamily="34" charset="0"/>
              </a:rPr>
              <a:t>Improved cache efficiency (deduplicated data fits in memory)</a:t>
            </a:r>
          </a:p>
        </p:txBody>
      </p:sp>
    </p:spTree>
    <p:extLst>
      <p:ext uri="{BB962C8B-B14F-4D97-AF65-F5344CB8AC3E}">
        <p14:creationId xmlns:p14="http://schemas.microsoft.com/office/powerpoint/2010/main" val="3037163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FBDC3-C308-9BD2-FD42-3B01CD23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FD332-91FC-E171-6566-F32382600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" y="202429"/>
            <a:ext cx="106680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Modelling pattern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1607EE-ECA7-7AB8-39D7-AA28188F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364BCC-DD1B-C817-8C26-17559DDBF0C7}"/>
              </a:ext>
            </a:extLst>
          </p:cNvPr>
          <p:cNvSpPr txBox="1"/>
          <p:nvPr/>
        </p:nvSpPr>
        <p:spPr>
          <a:xfrm>
            <a:off x="173420" y="865210"/>
            <a:ext cx="1146153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Possible Solution: </a:t>
            </a:r>
            <a:r>
              <a:rPr lang="en-IN" sz="2000" b="1" dirty="0"/>
              <a:t>Hybrid Data Vault + Feature Store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rgbClr val="C00000"/>
                </a:solidFill>
              </a:rPr>
              <a:t>Gold Layer Design:</a:t>
            </a:r>
            <a:endParaRPr lang="en-IN" sz="2000" dirty="0">
              <a:solidFill>
                <a:srgbClr val="C00000"/>
              </a:solidFill>
            </a:endParaRPr>
          </a:p>
          <a:p>
            <a:r>
              <a:rPr lang="en-IN" sz="2000" b="1" dirty="0"/>
              <a:t>For Analytics (Data Vault 2.0):</a:t>
            </a:r>
            <a:endParaRPr lang="en-IN" sz="2000" dirty="0"/>
          </a:p>
          <a:p>
            <a:pPr fontAlgn="ctr"/>
            <a:r>
              <a:rPr lang="en-IN" sz="2000" b="1" dirty="0"/>
              <a:t>Hubs:</a:t>
            </a:r>
            <a:r>
              <a:rPr lang="en-IN" sz="2000" dirty="0"/>
              <a:t> Unique business keys (Customer, Product, Order)</a:t>
            </a:r>
          </a:p>
          <a:p>
            <a:pPr fontAlgn="ctr"/>
            <a:r>
              <a:rPr lang="en-IN" sz="2000" b="1" dirty="0"/>
              <a:t>Links:</a:t>
            </a:r>
            <a:r>
              <a:rPr lang="en-IN" sz="2000" dirty="0"/>
              <a:t> Relationships between entities (Customer-Order, Order-Product)</a:t>
            </a:r>
          </a:p>
          <a:p>
            <a:pPr fontAlgn="ctr"/>
            <a:r>
              <a:rPr lang="en-IN" sz="2000" b="1" dirty="0"/>
              <a:t>Satellites:</a:t>
            </a:r>
            <a:r>
              <a:rPr lang="en-IN" sz="2000" dirty="0"/>
              <a:t> Descriptive attributes with temporal tracking</a:t>
            </a:r>
          </a:p>
          <a:p>
            <a:pPr fontAlgn="ctr"/>
            <a:r>
              <a:rPr lang="en-IN" sz="2000" b="1" dirty="0"/>
              <a:t>Benefits:</a:t>
            </a:r>
            <a:r>
              <a:rPr lang="en-IN" sz="2000" dirty="0"/>
              <a:t> Handles schema changes, maintains history, supports multi-source integration</a:t>
            </a:r>
          </a:p>
          <a:p>
            <a:pPr fontAlgn="ctr"/>
            <a:endParaRPr lang="en-IN" sz="2000" dirty="0"/>
          </a:p>
          <a:p>
            <a:pPr fontAlgn="ctr"/>
            <a:endParaRPr lang="en-IN" sz="2000" dirty="0"/>
          </a:p>
          <a:p>
            <a:r>
              <a:rPr lang="en-IN" sz="2000" b="1" dirty="0">
                <a:solidFill>
                  <a:srgbClr val="C00000"/>
                </a:solidFill>
              </a:rPr>
              <a:t>For AI (Feature Tables):</a:t>
            </a:r>
            <a:endParaRPr lang="en-IN" sz="2000" dirty="0">
              <a:solidFill>
                <a:srgbClr val="C00000"/>
              </a:solidFill>
            </a:endParaRPr>
          </a:p>
          <a:p>
            <a:pPr fontAlgn="ctr"/>
            <a:r>
              <a:rPr lang="en-IN" sz="2000" b="1" dirty="0"/>
              <a:t>Entity-centric feature tables</a:t>
            </a:r>
            <a:r>
              <a:rPr lang="en-IN" sz="2000" dirty="0"/>
              <a:t> derived from Vault</a:t>
            </a:r>
          </a:p>
          <a:p>
            <a:pPr fontAlgn="ctr"/>
            <a:r>
              <a:rPr lang="en-IN" sz="2000" b="1" dirty="0"/>
              <a:t>Temporal features</a:t>
            </a:r>
            <a:r>
              <a:rPr lang="en-IN" sz="2000" dirty="0"/>
              <a:t> (30-day </a:t>
            </a:r>
            <a:r>
              <a:rPr lang="en-IN" sz="2000" dirty="0" err="1"/>
              <a:t>avg</a:t>
            </a:r>
            <a:r>
              <a:rPr lang="en-IN" sz="2000" dirty="0"/>
              <a:t> order value, customer lifetime metrics)</a:t>
            </a:r>
          </a:p>
          <a:p>
            <a:pPr fontAlgn="ctr"/>
            <a:r>
              <a:rPr lang="en-IN" sz="2000" b="1" dirty="0"/>
              <a:t>Real-time feature</a:t>
            </a:r>
            <a:r>
              <a:rPr lang="en-IN" sz="2000" dirty="0"/>
              <a:t> materialization for inference</a:t>
            </a:r>
          </a:p>
          <a:p>
            <a:pPr fontAlgn="ctr"/>
            <a:r>
              <a:rPr lang="en-IN" sz="2000" b="1" dirty="0"/>
              <a:t>Point-in-time correctness</a:t>
            </a:r>
            <a:r>
              <a:rPr lang="en-IN" sz="2000" dirty="0"/>
              <a:t> for training data</a:t>
            </a:r>
          </a:p>
        </p:txBody>
      </p:sp>
    </p:spTree>
    <p:extLst>
      <p:ext uri="{BB962C8B-B14F-4D97-AF65-F5344CB8AC3E}">
        <p14:creationId xmlns:p14="http://schemas.microsoft.com/office/powerpoint/2010/main" val="142775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48B0-6990-C2E0-AA8C-C2A6AED1C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2F6BB5-5EAC-8F63-292C-9E2E69B8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050" name="Picture 2" descr="dbt_project.yml">
            <a:extLst>
              <a:ext uri="{FF2B5EF4-FFF2-40B4-BE49-F238E27FC236}">
                <a16:creationId xmlns:a16="http://schemas.microsoft.com/office/drawing/2014/main" id="{0F412620-A964-4CC8-C752-CF056CEF5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12192000" cy="684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1148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55990-4FAD-2A97-A1FD-E89290DC7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80C3-BFB4-4703-A362-E0AF92FFF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3486" y="1111843"/>
            <a:ext cx="7868307" cy="2685383"/>
          </a:xfrm>
        </p:spPr>
        <p:txBody>
          <a:bodyPr>
            <a:normAutofit/>
          </a:bodyPr>
          <a:lstStyle/>
          <a:p>
            <a:r>
              <a:rPr lang="en-IN" dirty="0"/>
              <a:t>Achieving Real-Time Performance and Scalability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2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BEFB3-8B04-1EC9-D3CA-F410DE898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F588-5B9C-87B2-F1D8-8E5BF72C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" y="202429"/>
            <a:ext cx="106680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Approach: Lambda → Kappa Architecture Evolution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AFACA3-079A-202E-A5AD-3A8EF9CE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D7207-F7DF-AA6B-FFDC-83BD535D4C01}"/>
              </a:ext>
            </a:extLst>
          </p:cNvPr>
          <p:cNvSpPr txBox="1"/>
          <p:nvPr/>
        </p:nvSpPr>
        <p:spPr>
          <a:xfrm>
            <a:off x="483475" y="1165271"/>
            <a:ext cx="1075208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400" b="1" dirty="0">
                <a:effectLst/>
                <a:latin typeface="Calibri" panose="020F0502020204030204" pitchFamily="34" charset="0"/>
              </a:rPr>
              <a:t>Phase 1: Hybrid Lambda (Quick Win)</a:t>
            </a:r>
            <a:endParaRPr lang="en-IN" sz="24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" panose="020F0502020204030204" pitchFamily="34" charset="0"/>
              </a:rPr>
              <a:t>Batch: OSS Spark for historical processing (Bronze → Silver)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" panose="020F0502020204030204" pitchFamily="34" charset="0"/>
              </a:rPr>
              <a:t>Speed: Flink/Kafka Streams for incremental updates (last 24-48 hours)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" panose="020F0502020204030204" pitchFamily="34" charset="0"/>
              </a:rPr>
              <a:t>Serving: Merge views in Gold layer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24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24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2400" b="1" dirty="0">
                <a:effectLst/>
                <a:latin typeface="Calibri" panose="020F0502020204030204" pitchFamily="34" charset="0"/>
              </a:rPr>
              <a:t>Phase 2: Pure Kappa (Target State)</a:t>
            </a:r>
            <a:endParaRPr lang="en-IN" sz="24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" panose="020F0502020204030204" pitchFamily="34" charset="0"/>
              </a:rPr>
              <a:t>Unified stream processing (Flink on Kubernetes)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" panose="020F0502020204030204" pitchFamily="34" charset="0"/>
              </a:rPr>
              <a:t>Event-driven, continuous processing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Calibri" panose="020F0502020204030204" pitchFamily="34" charset="0"/>
              </a:rPr>
              <a:t>Achieves 5-10 minute end-to-end latency</a:t>
            </a:r>
          </a:p>
        </p:txBody>
      </p:sp>
    </p:spTree>
    <p:extLst>
      <p:ext uri="{BB962C8B-B14F-4D97-AF65-F5344CB8AC3E}">
        <p14:creationId xmlns:p14="http://schemas.microsoft.com/office/powerpoint/2010/main" val="1210666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A77A-E6F0-075C-71D6-1EE16A81A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7EF1-5470-2D76-0B9F-B89C1F7A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" y="202429"/>
            <a:ext cx="106680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Critical </a:t>
            </a:r>
            <a:r>
              <a:rPr lang="en-IN" sz="2800" dirty="0" err="1"/>
              <a:t>PoCs</a:t>
            </a:r>
            <a:r>
              <a:rPr lang="en-IN" sz="2800" dirty="0"/>
              <a:t> (Prioritization)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96C68-78B6-89BF-F194-96ADA334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3263C2-FFB0-68E2-11C3-D218A924DF55}"/>
              </a:ext>
            </a:extLst>
          </p:cNvPr>
          <p:cNvSpPr txBox="1"/>
          <p:nvPr/>
        </p:nvSpPr>
        <p:spPr>
          <a:xfrm>
            <a:off x="262758" y="724039"/>
            <a:ext cx="1147729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PoC #1: OSS Spark on Kubernetes + Iceberg/Delta Lake</a:t>
            </a:r>
            <a:endParaRPr lang="en-IN" sz="20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Objective:</a:t>
            </a:r>
            <a:r>
              <a:rPr lang="en-IN" sz="2000" dirty="0">
                <a:effectLst/>
                <a:latin typeface="Calibri" panose="020F0502020204030204" pitchFamily="34" charset="0"/>
              </a:rPr>
              <a:t> Validate monolithic processing logic migration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Success Criteria: </a:t>
            </a:r>
            <a:endParaRPr lang="en-IN" sz="2000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2000" dirty="0">
                <a:effectLst/>
                <a:latin typeface="Calibri" panose="020F0502020204030204" pitchFamily="34" charset="0"/>
              </a:rPr>
              <a:t>Reproduce current batch outputs with 100% accuracy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2000" dirty="0">
                <a:effectLst/>
                <a:latin typeface="Calibri" panose="020F0502020204030204" pitchFamily="34" charset="0"/>
              </a:rPr>
              <a:t>Demonstrate 30%+ cost reduction vs. proprietary system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2000" dirty="0">
                <a:effectLst/>
                <a:latin typeface="Calibri" panose="020F0502020204030204" pitchFamily="34" charset="0"/>
              </a:rPr>
              <a:t>Prove Kubernetes autoscaling for variable workloads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Timeline:</a:t>
            </a:r>
            <a:r>
              <a:rPr lang="en-IN" sz="2000" dirty="0">
                <a:effectLst/>
                <a:latin typeface="Calibri" panose="020F0502020204030204" pitchFamily="34" charset="0"/>
              </a:rPr>
              <a:t> 4-6 weeks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De-risks:</a:t>
            </a:r>
            <a:r>
              <a:rPr lang="en-IN" sz="2000" dirty="0">
                <a:effectLst/>
                <a:latin typeface="Calibri" panose="020F0502020204030204" pitchFamily="34" charset="0"/>
              </a:rPr>
              <a:t> Vendor lock-in, compute costs, infrastructure modernization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2000" dirty="0"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20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PoC #2: Flink Streaming for High-Frequency Incremental Updates</a:t>
            </a:r>
            <a:endParaRPr lang="en-IN" sz="20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Objective:</a:t>
            </a:r>
            <a:r>
              <a:rPr lang="en-IN" sz="2000" dirty="0">
                <a:effectLst/>
                <a:latin typeface="Calibri" panose="020F0502020204030204" pitchFamily="34" charset="0"/>
              </a:rPr>
              <a:t> Achieve sub-30-minute latency for critical data flows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Success Criteria: </a:t>
            </a:r>
            <a:endParaRPr lang="en-IN" sz="2000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2000" dirty="0">
                <a:effectLst/>
                <a:latin typeface="Calibri" panose="020F0502020204030204" pitchFamily="34" charset="0"/>
              </a:rPr>
              <a:t>Process 200K+ records/hour with &lt;10 min end-to-end latency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2000" dirty="0">
                <a:effectLst/>
                <a:latin typeface="Calibri" panose="020F0502020204030204" pitchFamily="34" charset="0"/>
              </a:rPr>
              <a:t>Handle out-of-order events and late arrivals correctly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2000" dirty="0">
                <a:effectLst/>
                <a:latin typeface="Calibri" panose="020F0502020204030204" pitchFamily="34" charset="0"/>
              </a:rPr>
              <a:t>Demonstrate exactly-once processing semantics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Timeline:</a:t>
            </a:r>
            <a:r>
              <a:rPr lang="en-IN" sz="2000" dirty="0">
                <a:effectLst/>
                <a:latin typeface="Calibri" panose="020F0502020204030204" pitchFamily="34" charset="0"/>
              </a:rPr>
              <a:t> 6-8 weeks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De-risks:</a:t>
            </a:r>
            <a:r>
              <a:rPr lang="en-IN" sz="2000" dirty="0">
                <a:effectLst/>
                <a:latin typeface="Calibri" panose="020F0502020204030204" pitchFamily="34" charset="0"/>
              </a:rPr>
              <a:t> Real-time requirements, event ordering, state management</a:t>
            </a:r>
          </a:p>
        </p:txBody>
      </p:sp>
    </p:spTree>
    <p:extLst>
      <p:ext uri="{BB962C8B-B14F-4D97-AF65-F5344CB8AC3E}">
        <p14:creationId xmlns:p14="http://schemas.microsoft.com/office/powerpoint/2010/main" val="91921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F7C89-6D26-61CD-932B-6C760042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A947-D396-D47B-E2A7-41C2AF82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" y="202429"/>
            <a:ext cx="106680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Scalability Strategy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F7B810-C625-30C5-9517-7D529AFB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FDE49-1FB4-0CCA-621F-3799DD98EF32}"/>
              </a:ext>
            </a:extLst>
          </p:cNvPr>
          <p:cNvSpPr txBox="1"/>
          <p:nvPr/>
        </p:nvSpPr>
        <p:spPr>
          <a:xfrm>
            <a:off x="173420" y="865210"/>
            <a:ext cx="1147204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000" b="1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Horizontal Scalability:</a:t>
            </a:r>
            <a:endParaRPr lang="en-IN" sz="2000" dirty="0">
              <a:solidFill>
                <a:srgbClr val="C00000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Partitioning:</a:t>
            </a:r>
            <a:r>
              <a:rPr lang="en-IN" sz="2000" dirty="0">
                <a:effectLst/>
                <a:latin typeface="Calibri" panose="020F0502020204030204" pitchFamily="34" charset="0"/>
              </a:rPr>
              <a:t> By </a:t>
            </a:r>
            <a:r>
              <a:rPr lang="en-IN" sz="2000" dirty="0" err="1">
                <a:effectLst/>
                <a:latin typeface="Calibri" panose="020F0502020204030204" pitchFamily="34" charset="0"/>
              </a:rPr>
              <a:t>tenant_id</a:t>
            </a:r>
            <a:r>
              <a:rPr lang="en-IN" sz="2000" dirty="0">
                <a:effectLst/>
                <a:latin typeface="Calibri" panose="020F0502020204030204" pitchFamily="34" charset="0"/>
              </a:rPr>
              <a:t> and </a:t>
            </a:r>
            <a:r>
              <a:rPr lang="en-IN" sz="2000" dirty="0" err="1">
                <a:effectLst/>
                <a:latin typeface="Calibri" panose="020F0502020204030204" pitchFamily="34" charset="0"/>
              </a:rPr>
              <a:t>event_timestamp</a:t>
            </a:r>
            <a:endParaRPr lang="en-IN" sz="20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Parallelism:</a:t>
            </a:r>
            <a:r>
              <a:rPr lang="en-IN" sz="2000" dirty="0">
                <a:effectLst/>
                <a:latin typeface="Calibri" panose="020F0502020204030204" pitchFamily="34" charset="0"/>
              </a:rPr>
              <a:t> Dynamic partition count based on data volume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State Management:</a:t>
            </a:r>
            <a:r>
              <a:rPr lang="en-IN" sz="2000" dirty="0">
                <a:effectLst/>
                <a:latin typeface="Calibri" panose="020F0502020204030204" pitchFamily="34" charset="0"/>
              </a:rPr>
              <a:t> Distributed state backend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20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2000" b="1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High Availability:</a:t>
            </a:r>
            <a:endParaRPr lang="en-IN" sz="2000" dirty="0">
              <a:solidFill>
                <a:srgbClr val="C00000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Checkpointing:</a:t>
            </a:r>
            <a:r>
              <a:rPr lang="en-IN" sz="2000" dirty="0">
                <a:effectLst/>
                <a:latin typeface="Calibri" panose="020F0502020204030204" pitchFamily="34" charset="0"/>
              </a:rPr>
              <a:t> Regular state snapshots (every 5 minutes)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Multi-region replication</a:t>
            </a:r>
            <a:r>
              <a:rPr lang="en-IN" sz="2000" dirty="0">
                <a:effectLst/>
                <a:latin typeface="Calibri" panose="020F0502020204030204" pitchFamily="34" charset="0"/>
              </a:rPr>
              <a:t> for critical Gold layer data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Circuit breakers</a:t>
            </a:r>
            <a:r>
              <a:rPr lang="en-IN" sz="2000" dirty="0">
                <a:effectLst/>
                <a:latin typeface="Calibri" panose="020F0502020204030204" pitchFamily="34" charset="0"/>
              </a:rPr>
              <a:t> for dependent application data flows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Kafka as buffer</a:t>
            </a:r>
            <a:r>
              <a:rPr lang="en-IN" sz="2000" dirty="0">
                <a:effectLst/>
                <a:latin typeface="Calibri" panose="020F0502020204030204" pitchFamily="34" charset="0"/>
              </a:rPr>
              <a:t> to decouple producers/consumers and handle backpressure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20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2000" b="1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Handling Data Dependencies:</a:t>
            </a:r>
            <a:endParaRPr lang="en-IN" sz="2000" dirty="0">
              <a:solidFill>
                <a:srgbClr val="C00000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Watermarking strategy</a:t>
            </a:r>
            <a:r>
              <a:rPr lang="en-IN" sz="2000" dirty="0">
                <a:effectLst/>
                <a:latin typeface="Calibri" panose="020F0502020204030204" pitchFamily="34" charset="0"/>
              </a:rPr>
              <a:t> for time-based joins across applications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Windowed joins</a:t>
            </a:r>
            <a:r>
              <a:rPr lang="en-IN" sz="2000" dirty="0">
                <a:effectLst/>
                <a:latin typeface="Calibri" panose="020F0502020204030204" pitchFamily="34" charset="0"/>
              </a:rPr>
              <a:t> with configurable late-arrival tolerance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Fallback patterns</a:t>
            </a:r>
            <a:r>
              <a:rPr lang="en-IN" sz="2000" dirty="0">
                <a:effectLst/>
                <a:latin typeface="Calibri" panose="020F0502020204030204" pitchFamily="34" charset="0"/>
              </a:rPr>
              <a:t> (serve stale data vs. block on missing dependencies)</a:t>
            </a:r>
          </a:p>
        </p:txBody>
      </p:sp>
    </p:spTree>
    <p:extLst>
      <p:ext uri="{BB962C8B-B14F-4D97-AF65-F5344CB8AC3E}">
        <p14:creationId xmlns:p14="http://schemas.microsoft.com/office/powerpoint/2010/main" val="1149210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B5036-CA66-427C-AF62-A471BF8F0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60F4-822F-B393-552C-225CA04C7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1128" y="491733"/>
            <a:ext cx="9034955" cy="2685383"/>
          </a:xfrm>
        </p:spPr>
        <p:txBody>
          <a:bodyPr>
            <a:normAutofit/>
          </a:bodyPr>
          <a:lstStyle/>
          <a:p>
            <a:r>
              <a:rPr lang="en-IN" dirty="0"/>
              <a:t>Open-Source Transition, Observability, and Metadata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681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B20EF-FBDD-4F02-7DF5-B243A07E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96B4-A26C-7CC7-6981-60E42E5F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" y="202429"/>
            <a:ext cx="106680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Risk mitigation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7F48ED-B1A8-6565-7B72-1352B2921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9FD57-2A78-0621-C949-A0E0A02E30F4}"/>
              </a:ext>
            </a:extLst>
          </p:cNvPr>
          <p:cNvSpPr txBox="1"/>
          <p:nvPr/>
        </p:nvSpPr>
        <p:spPr>
          <a:xfrm>
            <a:off x="173420" y="865210"/>
            <a:ext cx="11619187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Critical Migration </a:t>
            </a:r>
            <a:r>
              <a:rPr lang="en-IN" sz="2000" b="1" dirty="0" err="1">
                <a:effectLst/>
                <a:latin typeface="Calibri" panose="020F0502020204030204" pitchFamily="34" charset="0"/>
              </a:rPr>
              <a:t>PoCs</a:t>
            </a:r>
            <a:endParaRPr lang="en-IN" sz="20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Already Covered in slide #12, Expanded Here:</a:t>
            </a:r>
          </a:p>
          <a:p>
            <a:pPr marL="0" marR="0">
              <a:buNone/>
            </a:pPr>
            <a:endParaRPr lang="en-IN" sz="18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PoC #1 - Extended Scope: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Logic Translation:</a:t>
            </a:r>
            <a:r>
              <a:rPr lang="en-IN" sz="1800" dirty="0">
                <a:effectLst/>
                <a:latin typeface="Calibri" panose="020F0502020204030204" pitchFamily="34" charset="0"/>
              </a:rPr>
              <a:t> Convert proprietary ETL to </a:t>
            </a:r>
            <a:r>
              <a:rPr lang="en-IN" sz="1800" dirty="0" err="1">
                <a:effectLst/>
                <a:latin typeface="Calibri" panose="020F0502020204030204" pitchFamily="34" charset="0"/>
              </a:rPr>
              <a:t>PySpark</a:t>
            </a:r>
            <a:r>
              <a:rPr lang="en-IN" sz="1800" dirty="0">
                <a:effectLst/>
                <a:latin typeface="Calibri" panose="020F0502020204030204" pitchFamily="34" charset="0"/>
              </a:rPr>
              <a:t>/Scala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Performance Benchmarking:</a:t>
            </a:r>
            <a:r>
              <a:rPr lang="en-IN" sz="1800" dirty="0">
                <a:effectLst/>
                <a:latin typeface="Calibri" panose="020F0502020204030204" pitchFamily="34" charset="0"/>
              </a:rPr>
              <a:t> Same input → same output, 1.5x faster target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Resource Optimization:</a:t>
            </a:r>
            <a:r>
              <a:rPr lang="en-IN" sz="1800" dirty="0">
                <a:effectLst/>
                <a:latin typeface="Calibri" panose="020F0502020204030204" pitchFamily="34" charset="0"/>
              </a:rPr>
              <a:t> Right-size Kubernetes pods (CPU/memory profiling)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18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PoC #3 (Additional): Schema Evolution &amp; Backward Compatibility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Objective:</a:t>
            </a:r>
            <a:r>
              <a:rPr lang="en-IN" sz="1800" dirty="0">
                <a:effectLst/>
                <a:latin typeface="Calibri" panose="020F0502020204030204" pitchFamily="34" charset="0"/>
              </a:rPr>
              <a:t> Validate schema registry handles customer-specific changes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Test:</a:t>
            </a:r>
            <a:r>
              <a:rPr lang="en-IN" sz="1800" dirty="0">
                <a:effectLst/>
                <a:latin typeface="Calibri" panose="020F0502020204030204" pitchFamily="34" charset="0"/>
              </a:rPr>
              <a:t> Add new field to 10 tenants, ensure no breaking changes to downstream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Success:</a:t>
            </a:r>
            <a:r>
              <a:rPr lang="en-IN" sz="1800" dirty="0">
                <a:effectLst/>
                <a:latin typeface="Calibri" panose="020F0502020204030204" pitchFamily="34" charset="0"/>
              </a:rPr>
              <a:t> Zero-downtime deployment, automated schema migration</a:t>
            </a:r>
          </a:p>
        </p:txBody>
      </p:sp>
    </p:spTree>
    <p:extLst>
      <p:ext uri="{BB962C8B-B14F-4D97-AF65-F5344CB8AC3E}">
        <p14:creationId xmlns:p14="http://schemas.microsoft.com/office/powerpoint/2010/main" val="3997450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98B64-1A53-CA66-6308-B9B52E5C9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4AC45-EFBB-4F11-762A-8B093531F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" y="202429"/>
            <a:ext cx="106680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Manifest pattern design - observability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0AD49D-DB20-BE25-722D-7CFD164C6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A152DA-297E-FC9F-B78D-9D7E4D453FC4}"/>
              </a:ext>
            </a:extLst>
          </p:cNvPr>
          <p:cNvSpPr txBox="1"/>
          <p:nvPr/>
        </p:nvSpPr>
        <p:spPr>
          <a:xfrm>
            <a:off x="173420" y="782723"/>
            <a:ext cx="5922580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1600" b="1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Architecture:</a:t>
            </a:r>
            <a:endParaRPr lang="en-IN" sz="1600" dirty="0">
              <a:solidFill>
                <a:srgbClr val="C00000"/>
              </a:solidFill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endParaRPr lang="en-IN" sz="16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600" dirty="0">
                <a:effectLst/>
                <a:latin typeface="Calibri" panose="020F0502020204030204" pitchFamily="34" charset="0"/>
              </a:rPr>
              <a:t>Event Source → Manifest Creation → Processing → Manifest Update → Serving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endParaRPr lang="en-IN" sz="16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600" b="1" dirty="0">
                <a:effectLst/>
                <a:latin typeface="Calibri" panose="020F0502020204030204" pitchFamily="34" charset="0"/>
              </a:rPr>
              <a:t>Manifest Table Schema:</a:t>
            </a:r>
            <a:br>
              <a:rPr lang="en-IN" sz="1600" b="1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{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</a:t>
            </a:r>
            <a:r>
              <a:rPr lang="en-IN" sz="1600" dirty="0" err="1">
                <a:effectLst/>
                <a:latin typeface="Calibri" panose="020F0502020204030204" pitchFamily="34" charset="0"/>
              </a:rPr>
              <a:t>manifest_id</a:t>
            </a:r>
            <a:r>
              <a:rPr lang="en-IN" sz="1600" dirty="0">
                <a:effectLst/>
                <a:latin typeface="Calibri" panose="020F0502020204030204" pitchFamily="34" charset="0"/>
              </a:rPr>
              <a:t>: UUID,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</a:t>
            </a:r>
            <a:r>
              <a:rPr lang="en-IN" sz="1600" dirty="0" err="1">
                <a:effectLst/>
                <a:latin typeface="Calibri" panose="020F0502020204030204" pitchFamily="34" charset="0"/>
              </a:rPr>
              <a:t>tenant_id</a:t>
            </a:r>
            <a:r>
              <a:rPr lang="en-IN" sz="1600" dirty="0">
                <a:effectLst/>
                <a:latin typeface="Calibri" panose="020F0502020204030204" pitchFamily="34" charset="0"/>
              </a:rPr>
              <a:t>: String,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</a:t>
            </a:r>
            <a:r>
              <a:rPr lang="en-IN" sz="1600" dirty="0" err="1">
                <a:effectLst/>
                <a:latin typeface="Calibri" panose="020F0502020204030204" pitchFamily="34" charset="0"/>
              </a:rPr>
              <a:t>source_system</a:t>
            </a:r>
            <a:r>
              <a:rPr lang="en-IN" sz="1600" dirty="0">
                <a:effectLst/>
                <a:latin typeface="Calibri" panose="020F0502020204030204" pitchFamily="34" charset="0"/>
              </a:rPr>
              <a:t>: String,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</a:t>
            </a:r>
            <a:r>
              <a:rPr lang="en-IN" sz="1600" dirty="0" err="1">
                <a:effectLst/>
                <a:latin typeface="Calibri" panose="020F0502020204030204" pitchFamily="34" charset="0"/>
              </a:rPr>
              <a:t>batch_id</a:t>
            </a:r>
            <a:r>
              <a:rPr lang="en-IN" sz="1600" dirty="0">
                <a:effectLst/>
                <a:latin typeface="Calibri" panose="020F0502020204030204" pitchFamily="34" charset="0"/>
              </a:rPr>
              <a:t>: String,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</a:t>
            </a:r>
            <a:r>
              <a:rPr lang="en-IN" sz="1600" dirty="0" err="1">
                <a:effectLst/>
                <a:latin typeface="Calibri" panose="020F0502020204030204" pitchFamily="34" charset="0"/>
              </a:rPr>
              <a:t>record_count</a:t>
            </a:r>
            <a:r>
              <a:rPr lang="en-IN" sz="1600" dirty="0">
                <a:effectLst/>
                <a:latin typeface="Calibri" panose="020F0502020204030204" pitchFamily="34" charset="0"/>
              </a:rPr>
              <a:t>: Long,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</a:t>
            </a:r>
            <a:r>
              <a:rPr lang="en-IN" sz="1600" dirty="0" err="1">
                <a:effectLst/>
                <a:latin typeface="Calibri" panose="020F0502020204030204" pitchFamily="34" charset="0"/>
              </a:rPr>
              <a:t>start_time</a:t>
            </a:r>
            <a:r>
              <a:rPr lang="en-IN" sz="1600" dirty="0">
                <a:effectLst/>
                <a:latin typeface="Calibri" panose="020F0502020204030204" pitchFamily="34" charset="0"/>
              </a:rPr>
              <a:t>: Timestamp,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</a:t>
            </a:r>
            <a:r>
              <a:rPr lang="en-IN" sz="1600" dirty="0" err="1">
                <a:effectLst/>
                <a:latin typeface="Calibri" panose="020F0502020204030204" pitchFamily="34" charset="0"/>
              </a:rPr>
              <a:t>end_time</a:t>
            </a:r>
            <a:r>
              <a:rPr lang="en-IN" sz="1600" dirty="0">
                <a:effectLst/>
                <a:latin typeface="Calibri" panose="020F0502020204030204" pitchFamily="34" charset="0"/>
              </a:rPr>
              <a:t>: Timestamp,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status: Enum(RECEIVED, PROCESSING, COMPLETE, PAUSED, FAILED),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</a:t>
            </a:r>
            <a:r>
              <a:rPr lang="en-IN" sz="1600" dirty="0" err="1">
                <a:effectLst/>
                <a:latin typeface="Calibri" panose="020F0502020204030204" pitchFamily="34" charset="0"/>
              </a:rPr>
              <a:t>quality_checks</a:t>
            </a:r>
            <a:r>
              <a:rPr lang="en-IN" sz="1600" dirty="0">
                <a:effectLst/>
                <a:latin typeface="Calibri" panose="020F0502020204030204" pitchFamily="34" charset="0"/>
              </a:rPr>
              <a:t>: JSON {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  </a:t>
            </a:r>
            <a:r>
              <a:rPr lang="en-IN" sz="1600" dirty="0" err="1">
                <a:effectLst/>
                <a:latin typeface="Calibri" panose="020F0502020204030204" pitchFamily="34" charset="0"/>
              </a:rPr>
              <a:t>schema_valid</a:t>
            </a:r>
            <a:r>
              <a:rPr lang="en-IN" sz="1600" dirty="0">
                <a:effectLst/>
                <a:latin typeface="Calibri" panose="020F0502020204030204" pitchFamily="34" charset="0"/>
              </a:rPr>
              <a:t>: Boolean,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  </a:t>
            </a:r>
            <a:r>
              <a:rPr lang="en-IN" sz="1600" dirty="0" err="1">
                <a:effectLst/>
                <a:latin typeface="Calibri" panose="020F0502020204030204" pitchFamily="34" charset="0"/>
              </a:rPr>
              <a:t>null_check_pass</a:t>
            </a:r>
            <a:r>
              <a:rPr lang="en-IN" sz="1600" dirty="0">
                <a:effectLst/>
                <a:latin typeface="Calibri" panose="020F0502020204030204" pitchFamily="34" charset="0"/>
              </a:rPr>
              <a:t>: Boolean,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  </a:t>
            </a:r>
            <a:r>
              <a:rPr lang="en-IN" sz="1600" dirty="0" err="1">
                <a:effectLst/>
                <a:latin typeface="Calibri" panose="020F0502020204030204" pitchFamily="34" charset="0"/>
              </a:rPr>
              <a:t>duplicate_count</a:t>
            </a:r>
            <a:r>
              <a:rPr lang="en-IN" sz="1600" dirty="0">
                <a:effectLst/>
                <a:latin typeface="Calibri" panose="020F0502020204030204" pitchFamily="34" charset="0"/>
              </a:rPr>
              <a:t>: Int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},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layer: Enum(BRONZE, SILVER, GOLD),</a:t>
            </a:r>
            <a:br>
              <a:rPr lang="en-IN" sz="1600" dirty="0">
                <a:effectLst/>
                <a:latin typeface="Calibri" panose="020F0502020204030204" pitchFamily="34" charset="0"/>
              </a:rPr>
            </a:br>
            <a:r>
              <a:rPr lang="en-IN" sz="1600" dirty="0">
                <a:effectLst/>
                <a:latin typeface="Calibri" panose="020F0502020204030204" pitchFamily="34" charset="0"/>
              </a:rPr>
              <a:t>  lineage: Array[</a:t>
            </a:r>
            <a:r>
              <a:rPr lang="en-IN" sz="1600" dirty="0" err="1">
                <a:effectLst/>
                <a:latin typeface="Calibri" panose="020F0502020204030204" pitchFamily="34" charset="0"/>
              </a:rPr>
              <a:t>manifest_id</a:t>
            </a:r>
            <a:r>
              <a:rPr lang="en-IN" sz="1600" dirty="0">
                <a:effectLst/>
                <a:latin typeface="Calibri" panose="020F0502020204030204" pitchFamily="34" charset="0"/>
              </a:rPr>
              <a:t>] (parent manifests)</a:t>
            </a:r>
            <a:br>
              <a:rPr lang="en-IN" sz="1100" dirty="0">
                <a:effectLst/>
                <a:latin typeface="Calibri" panose="020F0502020204030204" pitchFamily="34" charset="0"/>
              </a:rPr>
            </a:br>
            <a:r>
              <a:rPr lang="en-IN" sz="1100" dirty="0">
                <a:effectLst/>
                <a:latin typeface="Calibri" panose="020F0502020204030204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32DD66-2B94-1258-BA88-B90D2913A9F7}"/>
              </a:ext>
            </a:extLst>
          </p:cNvPr>
          <p:cNvSpPr txBox="1"/>
          <p:nvPr/>
        </p:nvSpPr>
        <p:spPr>
          <a:xfrm>
            <a:off x="6358758" y="782723"/>
            <a:ext cx="60960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1600" b="1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Purpose &amp; Capabilities:</a:t>
            </a:r>
          </a:p>
          <a:p>
            <a:pPr marL="0" marR="0">
              <a:buNone/>
            </a:pPr>
            <a:endParaRPr lang="en-IN" sz="16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600" b="1" i="0" dirty="0">
                <a:effectLst/>
                <a:latin typeface="Calibri" panose="020F0502020204030204" pitchFamily="34" charset="0"/>
              </a:rPr>
              <a:t>Granular Control: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Pause/resume specific tenant data flows via status flag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Replay from specific </a:t>
            </a:r>
            <a:r>
              <a:rPr lang="en-IN" sz="1600" i="0" dirty="0" err="1">
                <a:effectLst/>
                <a:latin typeface="Calibri" panose="020F0502020204030204" pitchFamily="34" charset="0"/>
              </a:rPr>
              <a:t>manifest_id</a:t>
            </a:r>
            <a:r>
              <a:rPr lang="en-IN" sz="1600" i="0" dirty="0">
                <a:effectLst/>
                <a:latin typeface="Calibri" panose="020F0502020204030204" pitchFamily="34" charset="0"/>
              </a:rPr>
              <a:t> for data corrections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Rollback to previous manifest in case of issues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endParaRPr lang="en-IN" sz="1600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600" b="1" i="0" dirty="0">
                <a:effectLst/>
                <a:latin typeface="Calibri" panose="020F0502020204030204" pitchFamily="34" charset="0"/>
              </a:rPr>
              <a:t>Enhanced Observability: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Real-time dashboard showing processing status per tenant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SLA monitoring (time in each layer)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Quality metrics trend analysis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End-to-end lineage tracking (source → Gold)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endParaRPr lang="en-IN" sz="1600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600" b="1" i="0" dirty="0">
                <a:effectLst/>
                <a:latin typeface="Calibri" panose="020F0502020204030204" pitchFamily="34" charset="0"/>
              </a:rPr>
              <a:t>Operations Benefits: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Root cause analysis (which manifest introduced bad data?)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Capacity planning (processing time trends)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Customer-specific SLA reporting</a:t>
            </a:r>
          </a:p>
        </p:txBody>
      </p:sp>
    </p:spTree>
    <p:extLst>
      <p:ext uri="{BB962C8B-B14F-4D97-AF65-F5344CB8AC3E}">
        <p14:creationId xmlns:p14="http://schemas.microsoft.com/office/powerpoint/2010/main" val="655581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B8E96-4B34-80D9-863D-6F3073B96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2028-BDD0-9B39-08D7-17143E0F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" y="202429"/>
            <a:ext cx="106680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Metadata Knowledge Base Strategy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611E13-5E21-18F5-3371-6472B42F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7856A-A251-0E94-0BBB-ADF55AB409E3}"/>
              </a:ext>
            </a:extLst>
          </p:cNvPr>
          <p:cNvSpPr txBox="1"/>
          <p:nvPr/>
        </p:nvSpPr>
        <p:spPr>
          <a:xfrm>
            <a:off x="315308" y="865210"/>
            <a:ext cx="6947339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Architecture: </a:t>
            </a:r>
            <a:r>
              <a:rPr lang="en-IN" sz="1400" dirty="0">
                <a:effectLst/>
                <a:latin typeface="Calibri" panose="020F0502020204030204" pitchFamily="34" charset="0"/>
              </a:rPr>
              <a:t>Centralized Data </a:t>
            </a:r>
            <a:r>
              <a:rPr lang="en-IN" sz="1400" dirty="0" err="1">
                <a:effectLst/>
                <a:latin typeface="Calibri" panose="020F0502020204030204" pitchFamily="34" charset="0"/>
              </a:rPr>
              <a:t>Catalog</a:t>
            </a:r>
            <a:r>
              <a:rPr lang="en-IN" sz="1400" dirty="0">
                <a:effectLst/>
                <a:latin typeface="Calibri" panose="020F0502020204030204" pitchFamily="34" charset="0"/>
              </a:rPr>
              <a:t> + Knowledge Graph</a:t>
            </a:r>
          </a:p>
          <a:p>
            <a:pPr marL="0" marR="0">
              <a:buNone/>
            </a:pPr>
            <a:endParaRPr lang="en-IN" sz="14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Components:</a:t>
            </a:r>
          </a:p>
          <a:p>
            <a:pPr rtl="0" fontAlgn="ctr">
              <a:buFont typeface="+mj-lt"/>
              <a:buAutoNum type="arabicPeriod"/>
            </a:pPr>
            <a:r>
              <a:rPr lang="en-IN" sz="1400" b="1" i="0" dirty="0">
                <a:effectLst/>
                <a:latin typeface="Calibri" panose="020F0502020204030204" pitchFamily="34" charset="0"/>
              </a:rPr>
              <a:t>Technical Metadata (</a:t>
            </a:r>
            <a:r>
              <a:rPr lang="en-IN" sz="1400" b="1" i="0" dirty="0" err="1">
                <a:effectLst/>
                <a:latin typeface="Calibri" panose="020F0502020204030204" pitchFamily="34" charset="0"/>
              </a:rPr>
              <a:t>DataHub</a:t>
            </a:r>
            <a:r>
              <a:rPr lang="en-IN" sz="1400" b="1" i="0" dirty="0">
                <a:effectLst/>
                <a:latin typeface="Calibri" panose="020F0502020204030204" pitchFamily="34" charset="0"/>
              </a:rPr>
              <a:t> etc.)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Schema definitions (fields, types, constraints)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Physical location (table paths, partitions)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Lineage (upstream/downstream dependencies)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Statistics (row counts, null percentages, cardinality)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endParaRPr lang="en-IN" sz="1400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400" b="1" i="0" dirty="0">
                <a:effectLst/>
                <a:latin typeface="Calibri" panose="020F0502020204030204" pitchFamily="34" charset="0"/>
              </a:rPr>
              <a:t>Business Metadata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Non-technical names ("Customer Lifetime Value" vs. "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cust_ltv_amt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")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Descriptions and calculation logic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Data ownership and stewardship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Sensitivity classification (PII, confidential)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endParaRPr lang="en-IN" sz="1400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400" b="1" i="0" dirty="0">
                <a:effectLst/>
                <a:latin typeface="Calibri" panose="020F0502020204030204" pitchFamily="34" charset="0"/>
              </a:rPr>
              <a:t>Tenant-Specific Configuration</a:t>
            </a:r>
            <a:br>
              <a:rPr lang="en-IN" sz="1400" i="0" dirty="0">
                <a:effectLst/>
                <a:latin typeface="Calibri" panose="020F0502020204030204" pitchFamily="34" charset="0"/>
              </a:rPr>
            </a:br>
            <a:r>
              <a:rPr lang="en-IN" sz="1400" i="0" dirty="0">
                <a:effectLst/>
                <a:latin typeface="Calibri" panose="020F0502020204030204" pitchFamily="34" charset="0"/>
              </a:rPr>
              <a:t>{</a:t>
            </a:r>
            <a:br>
              <a:rPr lang="en-IN" sz="1400" i="0" dirty="0">
                <a:effectLst/>
                <a:latin typeface="Calibri" panose="020F0502020204030204" pitchFamily="34" charset="0"/>
              </a:rPr>
            </a:br>
            <a:r>
              <a:rPr lang="en-IN" sz="1400" i="0" dirty="0">
                <a:effectLst/>
                <a:latin typeface="Calibri" panose="020F0502020204030204" pitchFamily="34" charset="0"/>
              </a:rPr>
              <a:t>  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tenant_id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: "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customer_A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",</a:t>
            </a:r>
            <a:br>
              <a:rPr lang="en-IN" sz="1400" i="0" dirty="0">
                <a:effectLst/>
                <a:latin typeface="Calibri" panose="020F0502020204030204" pitchFamily="34" charset="0"/>
              </a:rPr>
            </a:br>
            <a:r>
              <a:rPr lang="en-IN" sz="1400" i="0" dirty="0">
                <a:effectLst/>
                <a:latin typeface="Calibri" panose="020F0502020204030204" pitchFamily="34" charset="0"/>
              </a:rPr>
              <a:t>  application: "ERP",</a:t>
            </a:r>
            <a:br>
              <a:rPr lang="en-IN" sz="1400" i="0" dirty="0">
                <a:effectLst/>
                <a:latin typeface="Calibri" panose="020F0502020204030204" pitchFamily="34" charset="0"/>
              </a:rPr>
            </a:br>
            <a:r>
              <a:rPr lang="en-IN" sz="1400" i="0" dirty="0">
                <a:effectLst/>
                <a:latin typeface="Calibri" panose="020F0502020204030204" pitchFamily="34" charset="0"/>
              </a:rPr>
              <a:t>  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schema_version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: "2.1.3",</a:t>
            </a:r>
            <a:br>
              <a:rPr lang="en-IN" sz="1400" i="0" dirty="0">
                <a:effectLst/>
                <a:latin typeface="Calibri" panose="020F0502020204030204" pitchFamily="34" charset="0"/>
              </a:rPr>
            </a:br>
            <a:r>
              <a:rPr lang="en-IN" sz="1400" i="0" dirty="0">
                <a:effectLst/>
                <a:latin typeface="Calibri" panose="020F0502020204030204" pitchFamily="34" charset="0"/>
              </a:rPr>
              <a:t>  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field_mappings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: {</a:t>
            </a:r>
            <a:br>
              <a:rPr lang="en-IN" sz="1400" i="0" dirty="0">
                <a:effectLst/>
                <a:latin typeface="Calibri" panose="020F0502020204030204" pitchFamily="34" charset="0"/>
              </a:rPr>
            </a:br>
            <a:r>
              <a:rPr lang="en-IN" sz="1400" i="0" dirty="0">
                <a:effectLst/>
                <a:latin typeface="Calibri" panose="020F0502020204030204" pitchFamily="34" charset="0"/>
              </a:rPr>
              <a:t>    "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cust_ref_id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" → "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customer.external_id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",</a:t>
            </a:r>
            <a:br>
              <a:rPr lang="en-IN" sz="1400" i="0" dirty="0">
                <a:effectLst/>
                <a:latin typeface="Calibri" panose="020F0502020204030204" pitchFamily="34" charset="0"/>
              </a:rPr>
            </a:br>
            <a:r>
              <a:rPr lang="en-IN" sz="1400" i="0" dirty="0">
                <a:effectLst/>
                <a:latin typeface="Calibri" panose="020F0502020204030204" pitchFamily="34" charset="0"/>
              </a:rPr>
              <a:t>    "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total_amt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" → "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order.total_amount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"</a:t>
            </a:r>
            <a:br>
              <a:rPr lang="en-IN" sz="1400" i="0" dirty="0">
                <a:effectLst/>
                <a:latin typeface="Calibri" panose="020F0502020204030204" pitchFamily="34" charset="0"/>
              </a:rPr>
            </a:br>
            <a:r>
              <a:rPr lang="en-IN" sz="1400" i="0" dirty="0">
                <a:effectLst/>
                <a:latin typeface="Calibri" panose="020F0502020204030204" pitchFamily="34" charset="0"/>
              </a:rPr>
              <a:t>  },</a:t>
            </a:r>
            <a:br>
              <a:rPr lang="en-IN" sz="1400" i="0" dirty="0">
                <a:effectLst/>
                <a:latin typeface="Calibri" panose="020F0502020204030204" pitchFamily="34" charset="0"/>
              </a:rPr>
            </a:br>
            <a:r>
              <a:rPr lang="en-IN" sz="1400" i="0" dirty="0">
                <a:effectLst/>
                <a:latin typeface="Calibri" panose="020F0502020204030204" pitchFamily="34" charset="0"/>
              </a:rPr>
              <a:t>  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join_conditions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: {</a:t>
            </a:r>
            <a:br>
              <a:rPr lang="en-IN" sz="1400" i="0" dirty="0">
                <a:effectLst/>
                <a:latin typeface="Calibri" panose="020F0502020204030204" pitchFamily="34" charset="0"/>
              </a:rPr>
            </a:br>
            <a:r>
              <a:rPr lang="en-IN" sz="1400" i="0" dirty="0">
                <a:effectLst/>
                <a:latin typeface="Calibri" panose="020F0502020204030204" pitchFamily="34" charset="0"/>
              </a:rPr>
              <a:t>    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order_to_customer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: "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order.cust_ref_id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 = 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customer.external_id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"</a:t>
            </a:r>
            <a:br>
              <a:rPr lang="en-IN" sz="1400" i="0" dirty="0">
                <a:effectLst/>
                <a:latin typeface="Calibri" panose="020F0502020204030204" pitchFamily="34" charset="0"/>
              </a:rPr>
            </a:br>
            <a:r>
              <a:rPr lang="en-IN" sz="1400" i="0" dirty="0">
                <a:effectLst/>
                <a:latin typeface="Calibri" panose="020F0502020204030204" pitchFamily="34" charset="0"/>
              </a:rPr>
              <a:t>  }</a:t>
            </a:r>
            <a:br>
              <a:rPr lang="en-IN" sz="1400" i="0" dirty="0">
                <a:effectLst/>
                <a:latin typeface="Calibri" panose="020F0502020204030204" pitchFamily="34" charset="0"/>
              </a:rPr>
            </a:br>
            <a:r>
              <a:rPr lang="en-IN" sz="1400" i="0" dirty="0">
                <a:effectLst/>
                <a:latin typeface="Calibri" panose="020F0502020204030204" pitchFamily="34" charset="0"/>
              </a:rPr>
              <a:t>}</a:t>
            </a:r>
            <a:br>
              <a:rPr lang="en-IN" sz="1400" i="0" dirty="0">
                <a:effectLst/>
                <a:latin typeface="Calibri" panose="020F0502020204030204" pitchFamily="34" charset="0"/>
              </a:rPr>
            </a:br>
            <a:endParaRPr lang="en-IN" sz="1400" i="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230D7D-A8E7-ADB5-2B2E-D2DE105AAA0F}"/>
              </a:ext>
            </a:extLst>
          </p:cNvPr>
          <p:cNvSpPr txBox="1"/>
          <p:nvPr/>
        </p:nvSpPr>
        <p:spPr>
          <a:xfrm>
            <a:off x="6534807" y="865210"/>
            <a:ext cx="6096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en-IN" sz="1400" b="1" i="0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Knowledge Graph Layer (Neo4j</a:t>
            </a:r>
            <a:r>
              <a:rPr lang="en-IN" sz="1400" b="1" dirty="0">
                <a:solidFill>
                  <a:srgbClr val="C00000"/>
                </a:solidFill>
                <a:latin typeface="Calibri" panose="020F0502020204030204" pitchFamily="34" charset="0"/>
              </a:rPr>
              <a:t> etc</a:t>
            </a:r>
            <a:r>
              <a:rPr lang="en-IN" sz="1400" b="1" i="0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)</a:t>
            </a:r>
          </a:p>
          <a:p>
            <a:pPr rtl="0" fontAlgn="ctr"/>
            <a:endParaRPr lang="en-IN" sz="1400" b="1" i="0" dirty="0">
              <a:solidFill>
                <a:srgbClr val="C00000"/>
              </a:solidFill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b="1" i="0" dirty="0">
                <a:effectLst/>
                <a:latin typeface="Calibri" panose="020F0502020204030204" pitchFamily="34" charset="0"/>
              </a:rPr>
              <a:t>Entity relationships across applications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b="1" i="0" dirty="0">
                <a:effectLst/>
                <a:latin typeface="Calibri" panose="020F0502020204030204" pitchFamily="34" charset="0"/>
              </a:rPr>
              <a:t>Semantic search capabilities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b="1" i="0" dirty="0">
                <a:effectLst/>
                <a:latin typeface="Calibri" panose="020F0502020204030204" pitchFamily="34" charset="0"/>
              </a:rPr>
              <a:t>Traversal for impact analysis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endParaRPr lang="en-IN" sz="1400" b="1" i="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Critical for Conversational AI:</a:t>
            </a:r>
          </a:p>
          <a:p>
            <a:pPr marL="0" marR="0">
              <a:buNone/>
            </a:pPr>
            <a:endParaRPr lang="en-IN" sz="1400" dirty="0">
              <a:solidFill>
                <a:srgbClr val="C00000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  <a:latin typeface="Calibri" panose="020F0502020204030204" pitchFamily="34" charset="0"/>
              </a:rPr>
              <a:t>Natural Language Query Translation:</a:t>
            </a:r>
            <a:br>
              <a:rPr lang="en-IN" sz="1400" b="1" dirty="0">
                <a:effectLst/>
                <a:latin typeface="Calibri" panose="020F0502020204030204" pitchFamily="34" charset="0"/>
              </a:rPr>
            </a:br>
            <a:r>
              <a:rPr lang="en-IN" sz="1400" dirty="0">
                <a:effectLst/>
                <a:latin typeface="Calibri" panose="020F0502020204030204" pitchFamily="34" charset="0"/>
              </a:rPr>
              <a:t>User: "What's the average order value for premium customers this month?"</a:t>
            </a:r>
            <a:br>
              <a:rPr lang="en-IN" sz="1400" dirty="0">
                <a:effectLst/>
                <a:latin typeface="Calibri" panose="020F0502020204030204" pitchFamily="34" charset="0"/>
              </a:rPr>
            </a:br>
            <a:br>
              <a:rPr lang="en-IN" sz="1400" dirty="0">
                <a:effectLst/>
                <a:latin typeface="Calibri" panose="020F0502020204030204" pitchFamily="34" charset="0"/>
              </a:rPr>
            </a:br>
            <a:r>
              <a:rPr lang="en-IN" sz="1400" dirty="0">
                <a:effectLst/>
                <a:latin typeface="Calibri" panose="020F0502020204030204" pitchFamily="34" charset="0"/>
              </a:rPr>
              <a:t>System:</a:t>
            </a:r>
            <a:br>
              <a:rPr lang="en-IN" sz="1400" dirty="0">
                <a:effectLst/>
                <a:latin typeface="Calibri" panose="020F0502020204030204" pitchFamily="34" charset="0"/>
              </a:rPr>
            </a:br>
            <a:r>
              <a:rPr lang="en-IN" sz="1400" dirty="0">
                <a:effectLst/>
                <a:latin typeface="Calibri" panose="020F0502020204030204" pitchFamily="34" charset="0"/>
              </a:rPr>
              <a:t>1. Lookup "average order value" → </a:t>
            </a:r>
            <a:r>
              <a:rPr lang="en-IN" sz="1400" dirty="0" err="1">
                <a:effectLst/>
                <a:latin typeface="Calibri" panose="020F0502020204030204" pitchFamily="34" charset="0"/>
              </a:rPr>
              <a:t>metric_definition</a:t>
            </a:r>
            <a:r>
              <a:rPr lang="en-IN" sz="1400" dirty="0">
                <a:effectLst/>
                <a:latin typeface="Calibri" panose="020F0502020204030204" pitchFamily="34" charset="0"/>
              </a:rPr>
              <a:t> → calculation logic</a:t>
            </a:r>
            <a:br>
              <a:rPr lang="en-IN" sz="1400" dirty="0">
                <a:effectLst/>
                <a:latin typeface="Calibri" panose="020F0502020204030204" pitchFamily="34" charset="0"/>
              </a:rPr>
            </a:br>
            <a:r>
              <a:rPr lang="en-IN" sz="1400" dirty="0">
                <a:effectLst/>
                <a:latin typeface="Calibri" panose="020F0502020204030204" pitchFamily="34" charset="0"/>
              </a:rPr>
              <a:t>2. Lookup "premium customers" → </a:t>
            </a:r>
            <a:r>
              <a:rPr lang="en-IN" sz="1400" dirty="0" err="1">
                <a:effectLst/>
                <a:latin typeface="Calibri" panose="020F0502020204030204" pitchFamily="34" charset="0"/>
              </a:rPr>
              <a:t>customer.segment</a:t>
            </a:r>
            <a:r>
              <a:rPr lang="en-IN" sz="1400" dirty="0">
                <a:effectLst/>
                <a:latin typeface="Calibri" panose="020F0502020204030204" pitchFamily="34" charset="0"/>
              </a:rPr>
              <a:t> = 'premium'</a:t>
            </a:r>
            <a:br>
              <a:rPr lang="en-IN" sz="1400" dirty="0">
                <a:effectLst/>
                <a:latin typeface="Calibri" panose="020F0502020204030204" pitchFamily="34" charset="0"/>
              </a:rPr>
            </a:br>
            <a:r>
              <a:rPr lang="en-IN" sz="1400" dirty="0">
                <a:effectLst/>
                <a:latin typeface="Calibri" panose="020F0502020204030204" pitchFamily="34" charset="0"/>
              </a:rPr>
              <a:t>3. Lookup "this month" → </a:t>
            </a:r>
            <a:r>
              <a:rPr lang="en-IN" sz="1400" dirty="0" err="1">
                <a:effectLst/>
                <a:latin typeface="Calibri" panose="020F0502020204030204" pitchFamily="34" charset="0"/>
              </a:rPr>
              <a:t>time_filter</a:t>
            </a:r>
            <a:r>
              <a:rPr lang="en-IN" sz="1400" dirty="0">
                <a:effectLst/>
                <a:latin typeface="Calibri" panose="020F0502020204030204" pitchFamily="34" charset="0"/>
              </a:rPr>
              <a:t> → </a:t>
            </a:r>
            <a:r>
              <a:rPr lang="en-IN" sz="1400" dirty="0" err="1">
                <a:effectLst/>
                <a:latin typeface="Calibri" panose="020F0502020204030204" pitchFamily="34" charset="0"/>
              </a:rPr>
              <a:t>current_month</a:t>
            </a:r>
            <a:r>
              <a:rPr lang="en-IN" sz="1400" dirty="0">
                <a:effectLst/>
                <a:latin typeface="Calibri" panose="020F0502020204030204" pitchFamily="34" charset="0"/>
              </a:rPr>
              <a:t>()</a:t>
            </a:r>
            <a:br>
              <a:rPr lang="en-IN" sz="1400" dirty="0">
                <a:effectLst/>
                <a:latin typeface="Calibri" panose="020F0502020204030204" pitchFamily="34" charset="0"/>
              </a:rPr>
            </a:br>
            <a:r>
              <a:rPr lang="en-IN" sz="1400" dirty="0">
                <a:effectLst/>
                <a:latin typeface="Calibri" panose="020F0502020204030204" pitchFamily="34" charset="0"/>
              </a:rPr>
              <a:t>4. Generate SQL from metadata + execute</a:t>
            </a:r>
            <a:br>
              <a:rPr lang="en-IN" sz="1400" dirty="0">
                <a:effectLst/>
                <a:latin typeface="Calibri" panose="020F0502020204030204" pitchFamily="34" charset="0"/>
              </a:rPr>
            </a:br>
            <a:endParaRPr lang="en-IN" sz="14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  <a:latin typeface="Calibri" panose="020F0502020204030204" pitchFamily="34" charset="0"/>
              </a:rPr>
              <a:t>Context-Aware Responses:</a:t>
            </a:r>
            <a:endParaRPr lang="en-IN" sz="1400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dirty="0">
                <a:effectLst/>
                <a:latin typeface="Calibri" panose="020F0502020204030204" pitchFamily="34" charset="0"/>
              </a:rPr>
              <a:t>Understands tenant-specific field names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dirty="0">
                <a:effectLst/>
                <a:latin typeface="Calibri" panose="020F0502020204030204" pitchFamily="34" charset="0"/>
              </a:rPr>
              <a:t>Applies correct join paths based on schema version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dirty="0">
                <a:effectLst/>
                <a:latin typeface="Calibri" panose="020F0502020204030204" pitchFamily="34" charset="0"/>
              </a:rPr>
              <a:t>Surfaces data quality caveats from manifest metadata</a:t>
            </a:r>
          </a:p>
        </p:txBody>
      </p:sp>
    </p:spTree>
    <p:extLst>
      <p:ext uri="{BB962C8B-B14F-4D97-AF65-F5344CB8AC3E}">
        <p14:creationId xmlns:p14="http://schemas.microsoft.com/office/powerpoint/2010/main" val="260594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D88EC-2DFD-630B-7310-364EE290E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47FD-05E4-493C-54AD-42C7F621F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1129" y="491733"/>
            <a:ext cx="8782706" cy="2685383"/>
          </a:xfrm>
        </p:spPr>
        <p:txBody>
          <a:bodyPr>
            <a:normAutofit/>
          </a:bodyPr>
          <a:lstStyle/>
          <a:p>
            <a:r>
              <a:rPr lang="en-IN" dirty="0"/>
              <a:t>Strategic Pivot: </a:t>
            </a:r>
            <a:br>
              <a:rPr lang="en-IN" dirty="0"/>
            </a:br>
            <a:r>
              <a:rPr lang="en-IN" dirty="0"/>
              <a:t>Data for AI and Agent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883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3F891-54B0-6ADE-E187-FC7F5C1E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0E955-917A-4EF6-32EB-2A42F3361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" y="202429"/>
            <a:ext cx="106680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Architectural Bridge to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1311F9-2D1B-B4C9-6873-E0EF4B4EC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D43A6-56FB-E543-BE62-6A1F01396DFC}"/>
              </a:ext>
            </a:extLst>
          </p:cNvPr>
          <p:cNvSpPr txBox="1"/>
          <p:nvPr/>
        </p:nvSpPr>
        <p:spPr>
          <a:xfrm>
            <a:off x="173420" y="865210"/>
            <a:ext cx="116191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How Low-Latency Foundation Enables AI:</a:t>
            </a:r>
          </a:p>
          <a:p>
            <a:pPr fontAlgn="ctr"/>
            <a:endParaRPr lang="en-IN" dirty="0"/>
          </a:p>
          <a:p>
            <a:pPr fontAlgn="ctr"/>
            <a:r>
              <a:rPr lang="en-IN" b="1" dirty="0"/>
              <a:t>Real-time Feature Freshness:</a:t>
            </a:r>
          </a:p>
          <a:p>
            <a:pPr lvl="1" fontAlgn="ctr"/>
            <a:r>
              <a:rPr lang="en-IN" dirty="0"/>
              <a:t>Sub-30-minute latency ensures model inputs reflect current state</a:t>
            </a:r>
          </a:p>
          <a:p>
            <a:pPr lvl="1" fontAlgn="ctr"/>
            <a:r>
              <a:rPr lang="en-IN" dirty="0"/>
              <a:t>Critical for fraud detection, dynamic pricing, recommendation engines</a:t>
            </a:r>
          </a:p>
          <a:p>
            <a:pPr lvl="1" fontAlgn="ctr"/>
            <a:endParaRPr lang="en-IN" dirty="0"/>
          </a:p>
          <a:p>
            <a:pPr fontAlgn="ctr"/>
            <a:r>
              <a:rPr lang="en-IN" b="1" dirty="0"/>
              <a:t>Normalized Data Access:</a:t>
            </a:r>
          </a:p>
          <a:p>
            <a:pPr lvl="1" fontAlgn="ctr"/>
            <a:r>
              <a:rPr lang="en-IN" dirty="0"/>
              <a:t>Master data separation enables consistent entity definitions</a:t>
            </a:r>
          </a:p>
          <a:p>
            <a:pPr lvl="1" fontAlgn="ctr"/>
            <a:r>
              <a:rPr lang="en-IN" dirty="0"/>
              <a:t>Reduces feature engineering complexity (no duplicate resolution logic)</a:t>
            </a:r>
          </a:p>
          <a:p>
            <a:pPr fontAlgn="ctr"/>
            <a:endParaRPr lang="en-IN" dirty="0"/>
          </a:p>
          <a:p>
            <a:pPr fontAlgn="ctr"/>
            <a:r>
              <a:rPr lang="en-IN" b="1" dirty="0"/>
              <a:t>Observability Infrastructure:</a:t>
            </a:r>
          </a:p>
          <a:p>
            <a:pPr lvl="1" fontAlgn="ctr"/>
            <a:r>
              <a:rPr lang="en-IN" dirty="0"/>
              <a:t>Manifest pattern provides training data lineage</a:t>
            </a:r>
          </a:p>
          <a:p>
            <a:pPr lvl="1" fontAlgn="ctr"/>
            <a:r>
              <a:rPr lang="en-IN" dirty="0"/>
              <a:t>Enables point-in-time feature reconstruction for model debugging</a:t>
            </a:r>
          </a:p>
        </p:txBody>
      </p:sp>
    </p:spTree>
    <p:extLst>
      <p:ext uri="{BB962C8B-B14F-4D97-AF65-F5344CB8AC3E}">
        <p14:creationId xmlns:p14="http://schemas.microsoft.com/office/powerpoint/2010/main" val="2547687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3F23E-B8C2-C8CE-750F-3A836F4E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C76E-E4AB-9B71-C590-8C2734FA3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202428"/>
            <a:ext cx="106680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Feature Store Conceptual 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DC0D26-EB62-8D70-572E-BAF0DA04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B60A28-D19D-E1D4-A3E6-ADE7F43D10D2}"/>
              </a:ext>
            </a:extLst>
          </p:cNvPr>
          <p:cNvSpPr/>
          <p:nvPr/>
        </p:nvSpPr>
        <p:spPr>
          <a:xfrm>
            <a:off x="3247696" y="722056"/>
            <a:ext cx="4876801" cy="805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DATA PLATFORM LAYERS                        </a:t>
            </a:r>
            <a:br>
              <a:rPr lang="en-IN" sz="1400" dirty="0"/>
            </a:br>
            <a:r>
              <a:rPr lang="en-IN" sz="1400" dirty="0"/>
              <a:t>Bronze (Raw) → Silver (Normalized) → Gold (Semantic)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8178E1-BEF0-C1EA-3E6A-94A7B97391E5}"/>
              </a:ext>
            </a:extLst>
          </p:cNvPr>
          <p:cNvSpPr/>
          <p:nvPr/>
        </p:nvSpPr>
        <p:spPr>
          <a:xfrm>
            <a:off x="3465784" y="1955658"/>
            <a:ext cx="4440623" cy="14733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FEATURE STORE</a:t>
            </a:r>
            <a:br>
              <a:rPr lang="en-IN" sz="1400" dirty="0"/>
            </a:br>
            <a:r>
              <a:rPr lang="en-IN" sz="1400" dirty="0"/>
              <a:t>Feature Engineering Pipeline (Spark/Flink)             </a:t>
            </a:r>
            <a:br>
              <a:rPr lang="en-IN" sz="1400" dirty="0"/>
            </a:br>
            <a:r>
              <a:rPr lang="en-IN" sz="1400" dirty="0"/>
              <a:t>       - Aggregations (rolling windows)                        </a:t>
            </a:r>
          </a:p>
          <a:p>
            <a:pPr algn="ctr"/>
            <a:r>
              <a:rPr lang="en-IN" sz="1400" dirty="0"/>
              <a:t> - Transformations (embeddings, encodings)              </a:t>
            </a:r>
          </a:p>
          <a:p>
            <a:pPr algn="ctr"/>
            <a:r>
              <a:rPr lang="en-IN" sz="1400" dirty="0"/>
              <a:t> - Joins (entity-centric feature assembly)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5BEE95-93D3-2BCD-0CDD-54B6BD9022B8}"/>
              </a:ext>
            </a:extLst>
          </p:cNvPr>
          <p:cNvSpPr/>
          <p:nvPr/>
        </p:nvSpPr>
        <p:spPr>
          <a:xfrm>
            <a:off x="2041632" y="3856667"/>
            <a:ext cx="2848303" cy="11948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OFFLINE STORE (Historical)</a:t>
            </a:r>
            <a:br>
              <a:rPr lang="en-IN" sz="1400" dirty="0"/>
            </a:br>
            <a:br>
              <a:rPr lang="en-IN" sz="1400" dirty="0"/>
            </a:br>
            <a:r>
              <a:rPr lang="en-IN" sz="1400" dirty="0"/>
              <a:t>  - Parquet/Delta</a:t>
            </a:r>
          </a:p>
          <a:p>
            <a:pPr algn="ctr"/>
            <a:r>
              <a:rPr lang="en-IN" sz="1400" dirty="0"/>
              <a:t> - Training Data</a:t>
            </a:r>
          </a:p>
          <a:p>
            <a:pPr algn="ctr"/>
            <a:r>
              <a:rPr lang="en-IN" sz="1400" dirty="0"/>
              <a:t> - Batch Scoring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550F4E-4024-94C6-51EA-979C0B0DCDF0}"/>
              </a:ext>
            </a:extLst>
          </p:cNvPr>
          <p:cNvSpPr/>
          <p:nvPr/>
        </p:nvSpPr>
        <p:spPr>
          <a:xfrm>
            <a:off x="6590984" y="3861284"/>
            <a:ext cx="3061767" cy="11948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ONLINE STORE (Real-Time)</a:t>
            </a:r>
            <a:br>
              <a:rPr lang="en-IN" sz="1400" dirty="0"/>
            </a:br>
            <a:br>
              <a:rPr lang="en-IN" sz="1400" dirty="0"/>
            </a:br>
            <a:r>
              <a:rPr lang="en-IN" sz="1400" dirty="0"/>
              <a:t>       - Redis/</a:t>
            </a:r>
            <a:r>
              <a:rPr lang="en-IN" sz="1400" dirty="0" err="1"/>
              <a:t>Memcache</a:t>
            </a:r>
            <a:endParaRPr lang="en-IN" sz="1400" dirty="0"/>
          </a:p>
          <a:p>
            <a:pPr algn="ctr"/>
            <a:r>
              <a:rPr lang="en-IN" sz="1400" dirty="0"/>
              <a:t> - &lt;10ms lookups</a:t>
            </a:r>
          </a:p>
          <a:p>
            <a:pPr algn="ctr"/>
            <a:r>
              <a:rPr lang="en-IN" sz="1400" dirty="0"/>
              <a:t> - Inference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C5BDFB-F873-8360-9091-A88F039C7959}"/>
              </a:ext>
            </a:extLst>
          </p:cNvPr>
          <p:cNvSpPr/>
          <p:nvPr/>
        </p:nvSpPr>
        <p:spPr>
          <a:xfrm>
            <a:off x="2176953" y="5460753"/>
            <a:ext cx="2577659" cy="11948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Model Training (Offline)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3A3D9-20B6-4BCC-1319-00D374D2FF55}"/>
              </a:ext>
            </a:extLst>
          </p:cNvPr>
          <p:cNvSpPr/>
          <p:nvPr/>
        </p:nvSpPr>
        <p:spPr>
          <a:xfrm>
            <a:off x="6785741" y="5460753"/>
            <a:ext cx="2672252" cy="11948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Conversational Agent </a:t>
            </a:r>
          </a:p>
          <a:p>
            <a:pPr algn="ctr"/>
            <a:r>
              <a:rPr lang="en-IN" sz="1400" dirty="0"/>
              <a:t>(Real-Time Inference)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9D2130-738C-25A1-25AD-6FBBBB71E634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5686095" y="1527990"/>
            <a:ext cx="0" cy="43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78DA7D-4DF4-05AC-EAEE-14120F4BB6F2}"/>
              </a:ext>
            </a:extLst>
          </p:cNvPr>
          <p:cNvCxnSpPr/>
          <p:nvPr/>
        </p:nvCxnSpPr>
        <p:spPr>
          <a:xfrm flipH="1">
            <a:off x="3978164" y="3429000"/>
            <a:ext cx="0" cy="43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7B53FF-9697-2F66-CEF8-17BDAB03C385}"/>
              </a:ext>
            </a:extLst>
          </p:cNvPr>
          <p:cNvCxnSpPr/>
          <p:nvPr/>
        </p:nvCxnSpPr>
        <p:spPr>
          <a:xfrm flipH="1">
            <a:off x="7520150" y="3424667"/>
            <a:ext cx="0" cy="43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9DBE2F-3B92-0098-229A-02360A5D84D8}"/>
              </a:ext>
            </a:extLst>
          </p:cNvPr>
          <p:cNvCxnSpPr/>
          <p:nvPr/>
        </p:nvCxnSpPr>
        <p:spPr>
          <a:xfrm flipH="1">
            <a:off x="3481546" y="5051484"/>
            <a:ext cx="0" cy="43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84B92-0457-CF0A-4F1C-79F7110A372E}"/>
              </a:ext>
            </a:extLst>
          </p:cNvPr>
          <p:cNvCxnSpPr/>
          <p:nvPr/>
        </p:nvCxnSpPr>
        <p:spPr>
          <a:xfrm flipH="1">
            <a:off x="8035157" y="5028753"/>
            <a:ext cx="0" cy="43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023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E5F5-630F-F87A-E912-0B40779B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A48D2-916A-4E50-CD56-68767C1A7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" y="202429"/>
            <a:ext cx="106680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Why Feature Store is Necessary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CE0366-FC3E-83D5-CAAC-4B691C642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3A944-E864-FC62-126B-37AE5D485E9E}"/>
              </a:ext>
            </a:extLst>
          </p:cNvPr>
          <p:cNvSpPr txBox="1"/>
          <p:nvPr/>
        </p:nvSpPr>
        <p:spPr>
          <a:xfrm>
            <a:off x="430924" y="865210"/>
            <a:ext cx="112776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>
              <a:buFont typeface="+mj-lt"/>
              <a:buAutoNum type="arabicPeriod"/>
            </a:pPr>
            <a:r>
              <a:rPr lang="en-IN" sz="1400" b="1" i="0" dirty="0">
                <a:effectLst/>
                <a:latin typeface="Calibri" panose="020F0502020204030204" pitchFamily="34" charset="0"/>
              </a:rPr>
              <a:t>Dual-Timeline Consistency: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Training: Point-in-time correct features (no data leakage)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Inference: Fresh features with &lt;100ms latency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Challenge: Same feature definition, different serving requirements</a:t>
            </a:r>
          </a:p>
          <a:p>
            <a:pPr rtl="0" fontAlgn="ctr">
              <a:buFont typeface="+mj-lt"/>
              <a:buAutoNum type="arabicPeriod"/>
            </a:pPr>
            <a:r>
              <a:rPr lang="en-IN" sz="1400" b="1" i="0" dirty="0">
                <a:effectLst/>
                <a:latin typeface="Calibri" panose="020F0502020204030204" pitchFamily="34" charset="0"/>
              </a:rPr>
              <a:t>Conversational Reporting Agents Needs: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Low Latency: User asks question → response in &lt;2 seconds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Pre-computed Features: Can't run complex aggregations on-the-fly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Contextual Awareness: Agent needs customer segments, </a:t>
            </a:r>
            <a:r>
              <a:rPr lang="en-IN" sz="1400" i="0" dirty="0" err="1">
                <a:effectLst/>
                <a:latin typeface="Calibri" panose="020F0502020204030204" pitchFamily="34" charset="0"/>
              </a:rPr>
              <a:t>behavioral</a:t>
            </a:r>
            <a:r>
              <a:rPr lang="en-IN" sz="1400" i="0" dirty="0">
                <a:effectLst/>
                <a:latin typeface="Calibri" panose="020F0502020204030204" pitchFamily="34" charset="0"/>
              </a:rPr>
              <a:t> features instantly</a:t>
            </a:r>
          </a:p>
          <a:p>
            <a:pPr rtl="0" fontAlgn="ctr">
              <a:buFont typeface="+mj-lt"/>
              <a:buAutoNum type="arabicPeriod"/>
            </a:pPr>
            <a:r>
              <a:rPr lang="en-IN" sz="1400" b="1" i="0" dirty="0">
                <a:effectLst/>
                <a:latin typeface="Calibri" panose="020F0502020204030204" pitchFamily="34" charset="0"/>
              </a:rPr>
              <a:t>Reusability &amp; Governance: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Single source of truth for feature definitions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Version control for features (reproducibility)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400" i="0" dirty="0">
                <a:effectLst/>
                <a:latin typeface="Calibri" panose="020F0502020204030204" pitchFamily="34" charset="0"/>
              </a:rPr>
              <a:t>Feature discovery (avoid duplicate engineering)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endParaRPr lang="en-IN" sz="1400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400" b="1" i="0" dirty="0">
                <a:effectLst/>
                <a:latin typeface="Calibri" panose="020F0502020204030204" pitchFamily="34" charset="0"/>
              </a:rPr>
              <a:t>Example Use Case:</a:t>
            </a:r>
            <a:br>
              <a:rPr lang="en-IN" sz="1400" b="1" i="0" dirty="0">
                <a:effectLst/>
                <a:latin typeface="Calibri" panose="020F0502020204030204" pitchFamily="34" charset="0"/>
              </a:rPr>
            </a:br>
            <a:r>
              <a:rPr lang="en-IN" sz="1400" b="0" i="0" dirty="0">
                <a:effectLst/>
                <a:latin typeface="Calibri" panose="020F0502020204030204" pitchFamily="34" charset="0"/>
              </a:rPr>
              <a:t>User to Agent: "How are my high-value customers trending?"</a:t>
            </a:r>
            <a:br>
              <a:rPr lang="en-IN" sz="1400" b="0" i="0" dirty="0">
                <a:effectLst/>
                <a:latin typeface="Calibri" panose="020F0502020204030204" pitchFamily="34" charset="0"/>
              </a:rPr>
            </a:br>
            <a:br>
              <a:rPr lang="en-IN" sz="1400" b="0" i="0" dirty="0">
                <a:effectLst/>
                <a:latin typeface="Calibri" panose="020F0502020204030204" pitchFamily="34" charset="0"/>
              </a:rPr>
            </a:br>
            <a:r>
              <a:rPr lang="en-IN" sz="1400" b="1" i="0" dirty="0">
                <a:effectLst/>
                <a:latin typeface="Calibri" panose="020F0502020204030204" pitchFamily="34" charset="0"/>
              </a:rPr>
              <a:t>Agent Workflow:</a:t>
            </a:r>
            <a:br>
              <a:rPr lang="en-IN" sz="1400" b="0" i="0" dirty="0">
                <a:effectLst/>
                <a:latin typeface="Calibri" panose="020F0502020204030204" pitchFamily="34" charset="0"/>
              </a:rPr>
            </a:br>
            <a:r>
              <a:rPr lang="en-IN" sz="1400" b="0" i="0" dirty="0">
                <a:effectLst/>
                <a:latin typeface="Calibri" panose="020F0502020204030204" pitchFamily="34" charset="0"/>
              </a:rPr>
              <a:t>1. Retrieve from Feature Store (online):</a:t>
            </a:r>
            <a:br>
              <a:rPr lang="en-IN" sz="1400" b="0" i="0" dirty="0">
                <a:effectLst/>
                <a:latin typeface="Calibri" panose="020F0502020204030204" pitchFamily="34" charset="0"/>
              </a:rPr>
            </a:br>
            <a:r>
              <a:rPr lang="en-IN" sz="1400" b="0" i="0" dirty="0">
                <a:effectLst/>
                <a:latin typeface="Calibri" panose="020F0502020204030204" pitchFamily="34" charset="0"/>
              </a:rPr>
              <a:t>   - </a:t>
            </a:r>
            <a:r>
              <a:rPr lang="en-IN" sz="1400" b="0" i="0" dirty="0" err="1">
                <a:effectLst/>
                <a:latin typeface="Calibri" panose="020F0502020204030204" pitchFamily="34" charset="0"/>
              </a:rPr>
              <a:t>customer_segment</a:t>
            </a:r>
            <a:r>
              <a:rPr lang="en-IN" sz="1400" b="0" i="0" dirty="0">
                <a:effectLst/>
                <a:latin typeface="Calibri" panose="020F0502020204030204" pitchFamily="34" charset="0"/>
              </a:rPr>
              <a:t> features (cached)</a:t>
            </a:r>
            <a:br>
              <a:rPr lang="en-IN" sz="1400" b="0" i="0" dirty="0">
                <a:effectLst/>
                <a:latin typeface="Calibri" panose="020F0502020204030204" pitchFamily="34" charset="0"/>
              </a:rPr>
            </a:br>
            <a:r>
              <a:rPr lang="en-IN" sz="1400" b="0" i="0" dirty="0">
                <a:effectLst/>
                <a:latin typeface="Calibri" panose="020F0502020204030204" pitchFamily="34" charset="0"/>
              </a:rPr>
              <a:t>   - 30_day_purchase_trend (pre-computed, refreshed every 30 min)</a:t>
            </a:r>
            <a:br>
              <a:rPr lang="en-IN" sz="1400" b="0" i="0" dirty="0">
                <a:effectLst/>
                <a:latin typeface="Calibri" panose="020F0502020204030204" pitchFamily="34" charset="0"/>
              </a:rPr>
            </a:br>
            <a:r>
              <a:rPr lang="en-IN" sz="1400" b="0" i="0" dirty="0">
                <a:effectLst/>
                <a:latin typeface="Calibri" panose="020F0502020204030204" pitchFamily="34" charset="0"/>
              </a:rPr>
              <a:t>   - </a:t>
            </a:r>
            <a:r>
              <a:rPr lang="en-IN" sz="1400" b="0" i="0" dirty="0" err="1">
                <a:effectLst/>
                <a:latin typeface="Calibri" panose="020F0502020204030204" pitchFamily="34" charset="0"/>
              </a:rPr>
              <a:t>customer_lifetime_value</a:t>
            </a:r>
            <a:r>
              <a:rPr lang="en-IN" sz="1400" b="0" i="0" dirty="0">
                <a:effectLst/>
                <a:latin typeface="Calibri" panose="020F0502020204030204" pitchFamily="34" charset="0"/>
              </a:rPr>
              <a:t> (materialized)</a:t>
            </a:r>
            <a:br>
              <a:rPr lang="en-IN" sz="1400" b="0" i="0" dirty="0">
                <a:effectLst/>
                <a:latin typeface="Calibri" panose="020F0502020204030204" pitchFamily="34" charset="0"/>
              </a:rPr>
            </a:br>
            <a:br>
              <a:rPr lang="en-IN" sz="1400" b="0" i="0" dirty="0">
                <a:effectLst/>
                <a:latin typeface="Calibri" panose="020F0502020204030204" pitchFamily="34" charset="0"/>
              </a:rPr>
            </a:br>
            <a:r>
              <a:rPr lang="en-IN" sz="1400" b="0" i="0" dirty="0">
                <a:effectLst/>
                <a:latin typeface="Calibri" panose="020F0502020204030204" pitchFamily="34" charset="0"/>
              </a:rPr>
              <a:t>2. Generate natural language response with visualization</a:t>
            </a:r>
            <a:br>
              <a:rPr lang="en-IN" sz="1400" b="0" i="0" dirty="0">
                <a:effectLst/>
                <a:latin typeface="Calibri" panose="020F0502020204030204" pitchFamily="34" charset="0"/>
              </a:rPr>
            </a:br>
            <a:br>
              <a:rPr lang="en-IN" sz="1400" b="0" i="0" dirty="0">
                <a:effectLst/>
                <a:latin typeface="Calibri" panose="020F0502020204030204" pitchFamily="34" charset="0"/>
              </a:rPr>
            </a:br>
            <a:r>
              <a:rPr lang="en-IN" sz="1400" b="0" i="0" dirty="0">
                <a:effectLst/>
                <a:latin typeface="Calibri" panose="020F0502020204030204" pitchFamily="34" charset="0"/>
              </a:rPr>
              <a:t>Total latency: &lt;1 second (vs. 5+ minutes if computing from scratch)</a:t>
            </a:r>
            <a:endParaRPr lang="en-IN" sz="1400" b="1" i="0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863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1CE3C-FAA4-257F-1924-0A2569DF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2FB1F-866E-31FA-68FD-B07A7B122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9294" y="502243"/>
            <a:ext cx="8782706" cy="2685383"/>
          </a:xfrm>
        </p:spPr>
        <p:txBody>
          <a:bodyPr>
            <a:normAutofit/>
          </a:bodyPr>
          <a:lstStyle/>
          <a:p>
            <a:r>
              <a:rPr lang="en-IN" dirty="0"/>
              <a:t>Key discussion 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105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2A3D7-C5E6-D7E3-C20D-A08D2B784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8F0D-A5A5-A4DB-BE37-DD67852C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89" y="178677"/>
            <a:ext cx="10668000" cy="620110"/>
          </a:xfrm>
        </p:spPr>
        <p:txBody>
          <a:bodyPr>
            <a:normAutofit/>
          </a:bodyPr>
          <a:lstStyle/>
          <a:p>
            <a:r>
              <a:rPr lang="en-IN" sz="2800" dirty="0"/>
              <a:t>CSO Trade-offs: Data Quality vs. Latency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25B55F-7680-A2A2-4317-963EE9562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E86B66-B723-C140-3F09-D31D7D3E9EDC}"/>
              </a:ext>
            </a:extLst>
          </p:cNvPr>
          <p:cNvSpPr txBox="1"/>
          <p:nvPr/>
        </p:nvSpPr>
        <p:spPr>
          <a:xfrm>
            <a:off x="378372" y="1019504"/>
            <a:ext cx="1113108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1600" b="1" dirty="0">
                <a:effectLst/>
                <a:latin typeface="Calibri" panose="020F0502020204030204" pitchFamily="34" charset="0"/>
              </a:rPr>
              <a:t>Philosophy:</a:t>
            </a:r>
            <a:r>
              <a:rPr lang="en-IN" sz="1600" dirty="0">
                <a:effectLst/>
                <a:latin typeface="Calibri" panose="020F0502020204030204" pitchFamily="34" charset="0"/>
              </a:rPr>
              <a:t> "Quality gates should be asynchronous and non-blocking for real-time paths.“</a:t>
            </a:r>
          </a:p>
          <a:p>
            <a:pPr marL="0" marR="0">
              <a:buNone/>
            </a:pPr>
            <a:endParaRPr lang="en-IN" sz="16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600" b="1" dirty="0">
                <a:effectLst/>
                <a:latin typeface="Calibri" panose="020F0502020204030204" pitchFamily="34" charset="0"/>
              </a:rPr>
              <a:t>Implementation:</a:t>
            </a:r>
            <a:endParaRPr lang="en-IN" sz="16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600" b="1" i="0" dirty="0">
                <a:effectLst/>
                <a:latin typeface="Calibri" panose="020F0502020204030204" pitchFamily="34" charset="0"/>
              </a:rPr>
              <a:t>Multi-tier Quality Framework: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b="1" i="0" dirty="0">
                <a:effectLst/>
                <a:latin typeface="Calibri" panose="020F0502020204030204" pitchFamily="34" charset="0"/>
              </a:rPr>
              <a:t>Tier 1 (Blocking): </a:t>
            </a:r>
            <a:r>
              <a:rPr lang="en-IN" sz="1600" i="0" dirty="0">
                <a:effectLst/>
                <a:latin typeface="Calibri" panose="020F0502020204030204" pitchFamily="34" charset="0"/>
              </a:rPr>
              <a:t>Critical schema validation, null checks on primary keys → Silver layer entry gate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b="1" i="0" dirty="0">
                <a:effectLst/>
                <a:latin typeface="Calibri" panose="020F0502020204030204" pitchFamily="34" charset="0"/>
              </a:rPr>
              <a:t>Tier 2 (Warning): </a:t>
            </a:r>
            <a:r>
              <a:rPr lang="en-IN" sz="1600" i="0" dirty="0">
                <a:effectLst/>
                <a:latin typeface="Calibri" panose="020F0502020204030204" pitchFamily="34" charset="0"/>
              </a:rPr>
              <a:t>Statistical anomalies, referential integrity → logged in manifest, data flows through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b="1" i="0" dirty="0">
                <a:effectLst/>
                <a:latin typeface="Calibri" panose="020F0502020204030204" pitchFamily="34" charset="0"/>
              </a:rPr>
              <a:t>Tier 3 (Async): </a:t>
            </a:r>
            <a:r>
              <a:rPr lang="en-IN" sz="1600" i="0" dirty="0">
                <a:effectLst/>
                <a:latin typeface="Calibri" panose="020F0502020204030204" pitchFamily="34" charset="0"/>
              </a:rPr>
              <a:t>Deep quality rules, ML-based outlier detection → run post-processing, backfill corrections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endParaRPr lang="en-IN" sz="1600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600" b="1" i="0" dirty="0">
                <a:effectLst/>
                <a:latin typeface="Calibri" panose="020F0502020204030204" pitchFamily="34" charset="0"/>
              </a:rPr>
              <a:t>Quarantine Pattern: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Failed records routed to quarantine zone (S3/separate table)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Main pipeline continues unblocked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Operations team reviews and reprocesses quarantine batch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endParaRPr lang="en-IN" sz="1600" b="1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600" b="1" i="0" dirty="0">
                <a:effectLst/>
                <a:latin typeface="Calibri" panose="020F0502020204030204" pitchFamily="34" charset="0"/>
              </a:rPr>
              <a:t>Progressive Quality: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Bronze → Silver: Basic validation (5-10 min latency maintained)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Silver → Gold: Richer quality checks asynchronously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IN" sz="1600" i="0" dirty="0">
                <a:effectLst/>
                <a:latin typeface="Calibri" panose="020F0502020204030204" pitchFamily="34" charset="0"/>
              </a:rPr>
              <a:t>Gold layer: Highest quality guaranteed, but may lag by additional 10-15 minutes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endParaRPr lang="en-IN" sz="1600" i="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600" b="1" dirty="0">
                <a:effectLst/>
                <a:latin typeface="Calibri" panose="020F0502020204030204" pitchFamily="34" charset="0"/>
              </a:rPr>
              <a:t>Result:</a:t>
            </a:r>
            <a:r>
              <a:rPr lang="en-IN" sz="1600" dirty="0">
                <a:effectLst/>
                <a:latin typeface="Calibri" panose="020F0502020204030204" pitchFamily="34" charset="0"/>
              </a:rPr>
              <a:t> Achieve &lt;30-minute latency for 99.5% of clean data, while maintaining high quality bar.</a:t>
            </a:r>
          </a:p>
        </p:txBody>
      </p:sp>
    </p:spTree>
    <p:extLst>
      <p:ext uri="{BB962C8B-B14F-4D97-AF65-F5344CB8AC3E}">
        <p14:creationId xmlns:p14="http://schemas.microsoft.com/office/powerpoint/2010/main" val="165007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96E0F-B012-C649-59F7-6D5D0A137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8A73-C7AE-0964-3614-0546FCD57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89" y="115614"/>
            <a:ext cx="106680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Team &amp; leadership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0D6841-4D43-D254-96A3-DFA9AF408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098002-83B9-4718-175E-569DA16D6E5A}"/>
              </a:ext>
            </a:extLst>
          </p:cNvPr>
          <p:cNvSpPr txBox="1"/>
          <p:nvPr/>
        </p:nvSpPr>
        <p:spPr>
          <a:xfrm>
            <a:off x="325821" y="705452"/>
            <a:ext cx="57701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Initial PoC Team (3-month sprint):</a:t>
            </a:r>
          </a:p>
          <a:p>
            <a:pPr marL="0" marR="0">
              <a:buNone/>
            </a:pPr>
            <a:endParaRPr lang="en-IN" sz="18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Core Roles: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800" b="1" i="0" dirty="0">
                <a:effectLst/>
                <a:latin typeface="Calibri" panose="020F0502020204030204" pitchFamily="34" charset="0"/>
              </a:rPr>
              <a:t>PoC Lead (Architect)</a:t>
            </a:r>
            <a:r>
              <a:rPr lang="en-IN" sz="1800" b="0" i="0" dirty="0">
                <a:effectLst/>
                <a:latin typeface="Calibri" panose="020F0502020204030204" pitchFamily="34" charset="0"/>
              </a:rPr>
              <a:t> - Overall technical direction</a:t>
            </a:r>
            <a:endParaRPr lang="en-IN" sz="1800" b="1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800" b="1" i="0" dirty="0">
                <a:effectLst/>
                <a:latin typeface="Calibri" panose="020F0502020204030204" pitchFamily="34" charset="0"/>
              </a:rPr>
              <a:t>Data Engineer (2)</a:t>
            </a:r>
            <a:r>
              <a:rPr lang="en-IN" sz="1800" b="0" i="0" dirty="0">
                <a:effectLst/>
                <a:latin typeface="Calibri" panose="020F0502020204030204" pitchFamily="34" charset="0"/>
              </a:rPr>
              <a:t> - PoC #1 execution</a:t>
            </a:r>
            <a:endParaRPr lang="en-IN" sz="1800" b="1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800" b="1" i="0" dirty="0">
                <a:effectLst/>
                <a:latin typeface="Calibri" panose="020F0502020204030204" pitchFamily="34" charset="0"/>
              </a:rPr>
              <a:t>Data Engineer (1-2)</a:t>
            </a:r>
            <a:r>
              <a:rPr lang="en-IN" sz="1800" b="0" i="0" dirty="0">
                <a:effectLst/>
                <a:latin typeface="Calibri" panose="020F0502020204030204" pitchFamily="34" charset="0"/>
              </a:rPr>
              <a:t> - PoC #2 (Flink) execution</a:t>
            </a:r>
            <a:endParaRPr lang="en-IN" sz="1800" b="1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800" b="1" i="0" dirty="0">
                <a:effectLst/>
                <a:latin typeface="Calibri" panose="020F0502020204030204" pitchFamily="34" charset="0"/>
              </a:rPr>
              <a:t>Platform Expert (2)</a:t>
            </a:r>
            <a:r>
              <a:rPr lang="en-IN" sz="1800" b="0" i="0" dirty="0">
                <a:effectLst/>
                <a:latin typeface="Calibri" panose="020F0502020204030204" pitchFamily="34" charset="0"/>
              </a:rPr>
              <a:t> - Domain knowledge, validation</a:t>
            </a:r>
            <a:endParaRPr lang="en-IN" sz="1800" b="1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800" b="1" i="0" dirty="0">
                <a:effectLst/>
                <a:latin typeface="Calibri" panose="020F0502020204030204" pitchFamily="34" charset="0"/>
              </a:rPr>
              <a:t>Data Engineer (1)</a:t>
            </a:r>
            <a:r>
              <a:rPr lang="en-IN" sz="1800" b="0" i="0" dirty="0">
                <a:effectLst/>
                <a:latin typeface="Calibri" panose="020F0502020204030204" pitchFamily="34" charset="0"/>
              </a:rPr>
              <a:t> - Manifest pattern, observability</a:t>
            </a:r>
            <a:endParaRPr lang="en-IN" sz="1800" b="1" i="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IN" sz="1800" b="1" i="0" dirty="0">
                <a:effectLst/>
                <a:latin typeface="Calibri" panose="020F0502020204030204" pitchFamily="34" charset="0"/>
              </a:rPr>
              <a:t>DevOps/SRE (1)</a:t>
            </a:r>
            <a:r>
              <a:rPr lang="en-IN" sz="1800" b="0" i="0" dirty="0">
                <a:effectLst/>
                <a:latin typeface="Calibri" panose="020F0502020204030204" pitchFamily="34" charset="0"/>
              </a:rPr>
              <a:t> - K8s infrastructure, CI/CD</a:t>
            </a:r>
            <a:endParaRPr lang="en-IN" sz="1800" b="1" i="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6B0C1A-038A-C36C-2ADB-79FB622D88B3}"/>
              </a:ext>
            </a:extLst>
          </p:cNvPr>
          <p:cNvSpPr txBox="1"/>
          <p:nvPr/>
        </p:nvSpPr>
        <p:spPr>
          <a:xfrm>
            <a:off x="6279932" y="629602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Knowledge Transfer Strategy:</a:t>
            </a:r>
          </a:p>
          <a:p>
            <a:pPr marL="0" marR="0">
              <a:buNone/>
            </a:pPr>
            <a:endParaRPr lang="en-IN" sz="18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Phase 1 (Weeks 1-4): Learn &amp; Shadow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External consultants/OSS experts pair with existing team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Daily standups focused on "why" not just "how"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Hands-on workshops (Spark optimization, K8s debugging)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18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Phase 2 (Weeks 5-8): Collaborate &amp; Build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Existing team leads feature development with OSS stack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Consultants provide code reviews and best practices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Weekly architecture review sessions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18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Phase 3 (Weeks 9-12): Own &amp; Extend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Existing team runs PoC demos to stakeholders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Begin onboarding additional team members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Document patterns, runbooks, troubleshooting guides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18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Cultural Shift: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Celebrate "unlearning" proprietary approaches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Reward contributions to shared OSS knowledge base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Hackathons focused on OSS ecosystem exploration</a:t>
            </a:r>
          </a:p>
        </p:txBody>
      </p:sp>
    </p:spTree>
    <p:extLst>
      <p:ext uri="{BB962C8B-B14F-4D97-AF65-F5344CB8AC3E}">
        <p14:creationId xmlns:p14="http://schemas.microsoft.com/office/powerpoint/2010/main" val="2300953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E0F8E-1413-1077-8139-C2309123A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AE31-429A-7382-C598-0D7EE7331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0" y="0"/>
            <a:ext cx="106680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Business Quantification: Cloud Cost Savings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030221-3103-F924-555A-B9BBA1FE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E09E8E-39DA-938A-FA41-D8511DE63B0B}"/>
              </a:ext>
            </a:extLst>
          </p:cNvPr>
          <p:cNvSpPr txBox="1"/>
          <p:nvPr/>
        </p:nvSpPr>
        <p:spPr>
          <a:xfrm>
            <a:off x="315941" y="394692"/>
            <a:ext cx="1110943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Conservative Estimate: 35-50% Total Platform Cost Reduction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endParaRPr lang="en-IN" sz="1800" b="1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Breakdown (Back of the envelope calculation):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1. Master Data De-duplication (Immediate):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Current State:</a:t>
            </a:r>
            <a:r>
              <a:rPr lang="en-IN" sz="1800" dirty="0">
                <a:effectLst/>
                <a:latin typeface="Calibri" panose="020F0502020204030204" pitchFamily="34" charset="0"/>
              </a:rPr>
              <a:t> 5M records/day with 60% embedded redundancy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Post-Normalization:</a:t>
            </a:r>
            <a:r>
              <a:rPr lang="en-IN" sz="1800" dirty="0">
                <a:effectLst/>
                <a:latin typeface="Calibri" panose="020F0502020204030204" pitchFamily="34" charset="0"/>
              </a:rPr>
              <a:t> 2M records/day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Storage Savings:</a:t>
            </a:r>
            <a:r>
              <a:rPr lang="en-IN" sz="1800" dirty="0">
                <a:effectLst/>
                <a:latin typeface="Calibri" panose="020F0502020204030204" pitchFamily="34" charset="0"/>
              </a:rPr>
              <a:t> 60% reduction × $0.023/GB/month × 10TB = ~$8K/month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Compute Savings:</a:t>
            </a:r>
            <a:r>
              <a:rPr lang="en-IN" sz="1800" dirty="0">
                <a:effectLst/>
                <a:latin typeface="Calibri" panose="020F0502020204030204" pitchFamily="34" charset="0"/>
              </a:rPr>
              <a:t> 40% fewer transformations = ~$15K/month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Subtotal:</a:t>
            </a:r>
            <a:r>
              <a:rPr lang="en-IN" sz="1800" dirty="0">
                <a:effectLst/>
                <a:latin typeface="Calibri" panose="020F0502020204030204" pitchFamily="34" charset="0"/>
              </a:rPr>
              <a:t> ~$275K/year</a:t>
            </a:r>
          </a:p>
          <a:p>
            <a:pPr rtl="0" fontAlgn="ctr"/>
            <a:endParaRPr lang="en-IN" sz="18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2. OSS Migration (6-12 months):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Proprietary License Elimination:</a:t>
            </a:r>
            <a:r>
              <a:rPr lang="en-IN" sz="1800" dirty="0">
                <a:effectLst/>
                <a:latin typeface="Calibri" panose="020F0502020204030204" pitchFamily="34" charset="0"/>
              </a:rPr>
              <a:t> ~$500K/year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Kubernetes Autoscaling:</a:t>
            </a:r>
            <a:r>
              <a:rPr lang="en-IN" sz="1800" dirty="0">
                <a:effectLst/>
                <a:latin typeface="Calibri" panose="020F0502020204030204" pitchFamily="34" charset="0"/>
              </a:rPr>
              <a:t> 30-40% compute efficiency vs. fixed VMs = ~$200K/year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Spot Instances for Batch:</a:t>
            </a:r>
            <a:r>
              <a:rPr lang="en-IN" sz="1800" dirty="0">
                <a:effectLst/>
                <a:latin typeface="Calibri" panose="020F0502020204030204" pitchFamily="34" charset="0"/>
              </a:rPr>
              <a:t> Additional 50-70% savings on batch compute = ~$150K/year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Subtotal:</a:t>
            </a:r>
            <a:r>
              <a:rPr lang="en-IN" sz="1800" dirty="0">
                <a:effectLst/>
                <a:latin typeface="Calibri" panose="020F0502020204030204" pitchFamily="34" charset="0"/>
              </a:rPr>
              <a:t> ~$850K/year</a:t>
            </a:r>
          </a:p>
          <a:p>
            <a:pPr rtl="0" fontAlgn="ctr">
              <a:buFont typeface="Arial" panose="020B0604020202020204" pitchFamily="34" charset="0"/>
              <a:buChar char="•"/>
            </a:pPr>
            <a:endParaRPr lang="en-IN" sz="18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3. Operational Efficiency (12-18 months):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Reduced Manual Interventions:</a:t>
            </a:r>
            <a:r>
              <a:rPr lang="en-IN" sz="1800" dirty="0">
                <a:effectLst/>
                <a:latin typeface="Calibri" panose="020F0502020204030204" pitchFamily="34" charset="0"/>
              </a:rPr>
              <a:t> Better observability = 50% less ops time = ~$100K/year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Faster Troubleshooting:</a:t>
            </a:r>
            <a:r>
              <a:rPr lang="en-IN" sz="1800" dirty="0">
                <a:effectLst/>
                <a:latin typeface="Calibri" panose="020F0502020204030204" pitchFamily="34" charset="0"/>
              </a:rPr>
              <a:t> Manifest pattern reduces MTTR = reduced downtime costs</a:t>
            </a: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Total Annual Savings: $1.2M - $1.5M (35-50% of estimated $3M annual platform cost)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Additional ROI:</a:t>
            </a:r>
            <a:endParaRPr lang="en-IN" sz="18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Time-to-Market:</a:t>
            </a:r>
            <a:r>
              <a:rPr lang="en-IN" sz="1800" dirty="0">
                <a:effectLst/>
                <a:latin typeface="Calibri" panose="020F0502020204030204" pitchFamily="34" charset="0"/>
              </a:rPr>
              <a:t> 3-6 months faster for new AI features = competitive advantage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Calibri" panose="020F0502020204030204" pitchFamily="34" charset="0"/>
              </a:rPr>
              <a:t>Revenue Enablement:</a:t>
            </a:r>
            <a:r>
              <a:rPr lang="en-IN" sz="1800" dirty="0">
                <a:effectLst/>
                <a:latin typeface="Calibri" panose="020F0502020204030204" pitchFamily="34" charset="0"/>
              </a:rPr>
              <a:t> Conversational AI could drive 5-10% upsell/cross-sell = $XM (business-dependent)</a:t>
            </a:r>
          </a:p>
        </p:txBody>
      </p:sp>
    </p:spTree>
    <p:extLst>
      <p:ext uri="{BB962C8B-B14F-4D97-AF65-F5344CB8AC3E}">
        <p14:creationId xmlns:p14="http://schemas.microsoft.com/office/powerpoint/2010/main" val="4037795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755" y="244469"/>
            <a:ext cx="9866540" cy="1358140"/>
          </a:xfrm>
        </p:spPr>
        <p:txBody>
          <a:bodyPr>
            <a:normAutofit/>
          </a:bodyPr>
          <a:lstStyle/>
          <a:p>
            <a:r>
              <a:rPr lang="en-US" sz="2800" dirty="0"/>
              <a:t>Summary : key success​ metrics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415941" y="1168146"/>
            <a:ext cx="10450238" cy="4980405"/>
          </a:xfrm>
        </p:spPr>
        <p:txBody>
          <a:bodyPr>
            <a:normAutofit lnSpcReduction="10000"/>
          </a:bodyPr>
          <a:lstStyle/>
          <a:p>
            <a:pPr fontAlgn="ctr"/>
            <a:r>
              <a:rPr lang="en-IN" b="1" dirty="0"/>
              <a:t>Technical:</a:t>
            </a:r>
          </a:p>
          <a:p>
            <a:pPr lvl="1" fontAlgn="ctr"/>
            <a:r>
              <a:rPr lang="en-IN" dirty="0"/>
              <a:t>Sub-30-minute end-to-end latency (95th percentile)</a:t>
            </a:r>
          </a:p>
          <a:p>
            <a:pPr lvl="1" fontAlgn="ctr"/>
            <a:r>
              <a:rPr lang="en-IN" dirty="0"/>
              <a:t>99.9% data quality score (post-Silver layer)</a:t>
            </a:r>
          </a:p>
          <a:p>
            <a:pPr lvl="1" fontAlgn="ctr"/>
            <a:r>
              <a:rPr lang="en-IN" dirty="0"/>
              <a:t>Zero vendor lock-in (100% OSS stack)</a:t>
            </a:r>
          </a:p>
          <a:p>
            <a:pPr fontAlgn="ctr"/>
            <a:r>
              <a:rPr lang="en-IN" b="1" dirty="0"/>
              <a:t>Business:</a:t>
            </a:r>
          </a:p>
          <a:p>
            <a:pPr lvl="1" fontAlgn="ctr"/>
            <a:r>
              <a:rPr lang="en-IN" dirty="0"/>
              <a:t>40%+ cloud cost reduction</a:t>
            </a:r>
          </a:p>
          <a:p>
            <a:pPr lvl="1" fontAlgn="ctr"/>
            <a:r>
              <a:rPr lang="en-IN" dirty="0"/>
              <a:t>Enable 3+ AI use cases in Year 1</a:t>
            </a:r>
          </a:p>
          <a:p>
            <a:pPr lvl="1" fontAlgn="ctr"/>
            <a:r>
              <a:rPr lang="en-IN" dirty="0"/>
              <a:t>50% reduction in schema change deployment time</a:t>
            </a:r>
          </a:p>
          <a:p>
            <a:pPr fontAlgn="ctr"/>
            <a:r>
              <a:rPr lang="en-IN" b="1" dirty="0"/>
              <a:t>Operational:</a:t>
            </a:r>
          </a:p>
          <a:p>
            <a:pPr lvl="1" fontAlgn="ctr"/>
            <a:r>
              <a:rPr lang="en-IN" dirty="0"/>
              <a:t>&lt;5 minute MTTR for data flow issues (manifest pattern)</a:t>
            </a:r>
          </a:p>
          <a:p>
            <a:pPr lvl="1" fontAlgn="ctr"/>
            <a:r>
              <a:rPr lang="en-IN" dirty="0"/>
              <a:t>100% lineage coverage for compliance</a:t>
            </a:r>
          </a:p>
          <a:p>
            <a:pPr lvl="1" fontAlgn="ctr"/>
            <a:r>
              <a:rPr lang="en-IN" dirty="0"/>
              <a:t>Self-service feature creation for data scientists</a:t>
            </a:r>
          </a:p>
          <a:p>
            <a:endParaRPr lang="en-IN" dirty="0"/>
          </a:p>
          <a:p>
            <a:r>
              <a:rPr lang="en-IN" dirty="0"/>
              <a:t>This architecture positions the platform as an AI-ready, cost-efficient, observable foundation for next-generation data products.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8bcff170-9979-491e-8683-d8ced0850bad}" enabled="0" method="" siteId="{8bcff170-9979-491e-8683-d8ced0850ba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{4743CECE-C4CF-4C80-97F6-6412CBBB5914}TF55c86556-70ea-476e-aa05-13a38f2d5b0da1381d77_win32-a3c664429073</Template>
  <TotalTime>986</TotalTime>
  <Words>2802</Words>
  <Application>Microsoft Office PowerPoint</Application>
  <PresentationFormat>Widescreen</PresentationFormat>
  <Paragraphs>393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Avenir Next LT Pro</vt:lpstr>
      <vt:lpstr>Calibri</vt:lpstr>
      <vt:lpstr>Courier New</vt:lpstr>
      <vt:lpstr>Custom</vt:lpstr>
      <vt:lpstr> Enterprise Data Architect Case Study:  Data Platform Transformation for AI </vt:lpstr>
      <vt:lpstr>  The Challenge (The Situation &amp; Mandate) </vt:lpstr>
      <vt:lpstr>  The SOLUTION AREAS</vt:lpstr>
      <vt:lpstr>The Foundational Fix: Data Layering, Decoupling, and Cost</vt:lpstr>
      <vt:lpstr>Architectural Suggestion</vt:lpstr>
      <vt:lpstr>Separation Strategy for variable schema</vt:lpstr>
      <vt:lpstr>Cost justification</vt:lpstr>
      <vt:lpstr>Modelling pattern</vt:lpstr>
      <vt:lpstr>PowerPoint Presentation</vt:lpstr>
      <vt:lpstr>Achieving Real-Time Performance and Scalability</vt:lpstr>
      <vt:lpstr>Approach: Lambda → Kappa Architecture Evolution</vt:lpstr>
      <vt:lpstr>Critical PoCs (Prioritization)</vt:lpstr>
      <vt:lpstr>Scalability Strategy</vt:lpstr>
      <vt:lpstr>Open-Source Transition, Observability, and Metadata</vt:lpstr>
      <vt:lpstr>Risk mitigation</vt:lpstr>
      <vt:lpstr>Manifest pattern design - observability</vt:lpstr>
      <vt:lpstr>Metadata Knowledge Base Strategy</vt:lpstr>
      <vt:lpstr>Strategic Pivot:  Data for AI and Agent Services</vt:lpstr>
      <vt:lpstr>Architectural Bridge to AI</vt:lpstr>
      <vt:lpstr>Feature Store Conceptual Flow</vt:lpstr>
      <vt:lpstr>Why Feature Store is Necessary</vt:lpstr>
      <vt:lpstr>Key discussion points</vt:lpstr>
      <vt:lpstr>CSO Trade-offs: Data Quality vs. Latency</vt:lpstr>
      <vt:lpstr>Team &amp; leadership structure</vt:lpstr>
      <vt:lpstr>Business Quantification: Cloud Cost Savings</vt:lpstr>
      <vt:lpstr>Summary : key success​ metrics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Ganguly</dc:creator>
  <cp:lastModifiedBy>Abhishek Ganguly</cp:lastModifiedBy>
  <cp:revision>1</cp:revision>
  <dcterms:created xsi:type="dcterms:W3CDTF">2026-01-20T18:37:43Z</dcterms:created>
  <dcterms:modified xsi:type="dcterms:W3CDTF">2026-01-28T15:40:18Z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